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</p:sldIdLst>
  <p:sldSz cx="30275530" cy="42803445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91" userDrawn="1">
          <p15:clr>
            <a:srgbClr val="A4A3A4"/>
          </p15:clr>
        </p15:guide>
        <p15:guide id="2" pos="283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F2937"/>
    <a:srgbClr val="F76F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91"/>
        <p:guide pos="2835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8.png"/><Relationship Id="rId7" Type="http://schemas.openxmlformats.org/officeDocument/2006/relationships/image" Target="../media/image7.jpeg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0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9" Type="http://schemas.openxmlformats.org/officeDocument/2006/relationships/image" Target="../media/image19.png"/><Relationship Id="rId18" Type="http://schemas.openxmlformats.org/officeDocument/2006/relationships/image" Target="../media/image18.png"/><Relationship Id="rId17" Type="http://schemas.openxmlformats.org/officeDocument/2006/relationships/image" Target="../media/image17.png"/><Relationship Id="rId16" Type="http://schemas.openxmlformats.org/officeDocument/2006/relationships/image" Target="../media/image16.png"/><Relationship Id="rId15" Type="http://schemas.openxmlformats.org/officeDocument/2006/relationships/image" Target="../media/image15.png"/><Relationship Id="rId14" Type="http://schemas.openxmlformats.org/officeDocument/2006/relationships/image" Target="../media/image14.png"/><Relationship Id="rId13" Type="http://schemas.openxmlformats.org/officeDocument/2006/relationships/image" Target="../media/image13.png"/><Relationship Id="rId12" Type="http://schemas.openxmlformats.org/officeDocument/2006/relationships/image" Target="../media/image12.png"/><Relationship Id="rId11" Type="http://schemas.openxmlformats.org/officeDocument/2006/relationships/image" Target="../media/image11.png"/><Relationship Id="rId10" Type="http://schemas.openxmlformats.org/officeDocument/2006/relationships/image" Target="../media/image10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276000" cy="4280400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60000" y="648000"/>
            <a:ext cx="3240000" cy="792000"/>
          </a:xfrm>
          <a:prstGeom prst="rect">
            <a:avLst/>
          </a:prstGeom>
          <a:noFill/>
        </p:spPr>
        <p:txBody>
          <a:bodyPr wrap="square" lIns="72000" tIns="72000" rIns="72000" bIns="72000" anchor="ctr">
            <a:spAutoFit/>
          </a:bodyPr>
          <a:lstStyle/>
          <a:p>
            <a:pPr algn="ctr"/>
            <a:r>
              <a:rPr sz="2200" b="1">
                <a:solidFill>
                  <a:srgbClr val="5C6065"/>
                </a:solidFill>
                <a:latin typeface="Aptos"/>
              </a:rPr>
              <a:t>INSTITUTION</a:t>
            </a:r>
            <a:br>
              <a:rPr sz="2200" b="1">
                <a:solidFill>
                  <a:srgbClr val="5C6065"/>
                </a:solidFill>
                <a:latin typeface="Aptos"/>
              </a:rPr>
            </a:br>
            <a:r>
              <a:rPr sz="2200" b="1">
                <a:solidFill>
                  <a:srgbClr val="5C6065"/>
                </a:solidFill>
                <a:latin typeface="Aptos"/>
              </a:rPr>
              <a:t>LOGO</a:t>
            </a:r>
            <a:endParaRPr sz="2200" b="1">
              <a:solidFill>
                <a:srgbClr val="5C6065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52400"/>
            <a:ext cx="30274895" cy="2759075"/>
          </a:xfrm>
          <a:prstGeom prst="rect">
            <a:avLst/>
          </a:prstGeom>
        </p:spPr>
        <p:style>
          <a:lnRef idx="0">
            <a:srgbClr val="FFFFFF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 lIns="72000" tIns="72000" rIns="72000" bIns="72000" anchor="t">
            <a:spAutoFit/>
          </a:bodyPr>
          <a:lstStyle/>
          <a:p>
            <a:pPr algn="ctr"/>
            <a:r>
              <a:rPr sz="8500" b="1">
                <a:solidFill>
                  <a:srgbClr val="23262A"/>
                </a:solidFill>
                <a:latin typeface="Aptos"/>
                <a:sym typeface="+mn-ea"/>
              </a:rPr>
              <a:t>TARGETING THE UN-TARGETABLE</a:t>
            </a:r>
            <a:r>
              <a:rPr lang="en-US" sz="8500" b="1">
                <a:solidFill>
                  <a:srgbClr val="23262A"/>
                </a:solidFill>
                <a:latin typeface="Aptos"/>
                <a:sym typeface="+mn-ea"/>
              </a:rPr>
              <a:t> </a:t>
            </a:r>
            <a:r>
              <a:rPr sz="8500" b="1">
                <a:solidFill>
                  <a:srgbClr val="23262A"/>
                </a:solidFill>
                <a:latin typeface="Aptos"/>
                <a:sym typeface="+mn-ea"/>
              </a:rPr>
              <a:t>:</a:t>
            </a:r>
            <a:endParaRPr sz="8500" b="1">
              <a:solidFill>
                <a:srgbClr val="23262A"/>
              </a:solidFill>
              <a:latin typeface="Aptos"/>
            </a:endParaRPr>
          </a:p>
          <a:p>
            <a:pPr algn="ctr"/>
            <a:r>
              <a:rPr sz="8500" b="1">
                <a:solidFill>
                  <a:srgbClr val="B1482B"/>
                </a:solidFill>
                <a:latin typeface="Aptos"/>
              </a:rPr>
              <a:t>A Ferroptotic Approach to Refractory Cancers</a:t>
            </a:r>
            <a:endParaRPr sz="8500" b="1">
              <a:solidFill>
                <a:srgbClr val="B1482B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440180" y="2911475"/>
            <a:ext cx="27712670" cy="727710"/>
          </a:xfrm>
          <a:prstGeom prst="rect">
            <a:avLst/>
          </a:prstGeom>
          <a:noFill/>
        </p:spPr>
        <p:txBody>
          <a:bodyPr wrap="square" lIns="72000" tIns="72000" rIns="72000" bIns="72000" anchor="t">
            <a:spAutoFit/>
          </a:bodyPr>
          <a:lstStyle/>
          <a:p>
            <a:pPr algn="ctr"/>
            <a:r>
              <a:rPr sz="3800" b="1">
                <a:solidFill>
                  <a:schemeClr val="accent6">
                    <a:lumMod val="75000"/>
                  </a:schemeClr>
                </a:solidFill>
                <a:latin typeface="Aptos"/>
              </a:rPr>
              <a:t>Exploiting iron, lipid-peroxidation and antioxidant dependencies to identify vulnerabilities in therapy-resistant tumors</a:t>
            </a:r>
            <a:endParaRPr sz="3800" b="1">
              <a:solidFill>
                <a:schemeClr val="accent6">
                  <a:lumMod val="75000"/>
                </a:schemeClr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688585" y="3479200"/>
            <a:ext cx="19080000" cy="1189355"/>
          </a:xfrm>
          <a:prstGeom prst="rect">
            <a:avLst/>
          </a:prstGeom>
          <a:noFill/>
        </p:spPr>
        <p:txBody>
          <a:bodyPr wrap="square" lIns="72000" tIns="72000" rIns="72000" bIns="72000" anchor="t">
            <a:spAutoFit/>
          </a:bodyPr>
          <a:lstStyle/>
          <a:p>
            <a:pPr algn="ctr"/>
            <a:r>
              <a:rPr lang="en-US" sz="3600" b="1">
                <a:solidFill>
                  <a:srgbClr val="23262A"/>
                </a:solidFill>
                <a:latin typeface="Aptos"/>
                <a:sym typeface="+mn-ea"/>
              </a:rPr>
              <a:t> </a:t>
            </a:r>
            <a:r>
              <a:rPr lang="en-US" sz="3600" b="1">
                <a:solidFill>
                  <a:srgbClr val="23262A"/>
                </a:solidFill>
                <a:latin typeface="Aptos"/>
              </a:rPr>
              <a:t>Humayra kabir Ahona</a:t>
            </a:r>
            <a:r>
              <a:rPr sz="3600" b="1">
                <a:solidFill>
                  <a:srgbClr val="23262A"/>
                </a:solidFill>
                <a:latin typeface="Aptos"/>
              </a:rPr>
              <a:t> · </a:t>
            </a:r>
            <a:r>
              <a:rPr lang="en-US" sz="3600" b="1">
                <a:solidFill>
                  <a:srgbClr val="23262A"/>
                </a:solidFill>
                <a:latin typeface="Aptos"/>
              </a:rPr>
              <a:t>Sanjida Rahman Muntaha</a:t>
            </a:r>
            <a:br>
              <a:rPr sz="2100" b="1">
                <a:solidFill>
                  <a:srgbClr val="23262A"/>
                </a:solidFill>
                <a:latin typeface="Aptos"/>
              </a:rPr>
            </a:br>
            <a:r>
              <a:rPr sz="3200" b="1">
                <a:solidFill>
                  <a:srgbClr val="23262A"/>
                </a:solidFill>
                <a:latin typeface="Aptos"/>
              </a:rPr>
              <a:t>Department of Biochemistry  | </a:t>
            </a:r>
            <a:r>
              <a:rPr sz="3200" b="1">
                <a:solidFill>
                  <a:srgbClr val="23262A"/>
                </a:solidFill>
                <a:latin typeface="Aptos"/>
                <a:sym typeface="+mn-ea"/>
              </a:rPr>
              <a:t>|</a:t>
            </a:r>
            <a:r>
              <a:rPr lang="en-US" sz="3200" b="1">
                <a:solidFill>
                  <a:srgbClr val="23262A"/>
                </a:solidFill>
                <a:latin typeface="Aptos"/>
                <a:sym typeface="+mn-ea"/>
              </a:rPr>
              <a:t> University of Chittagong</a:t>
            </a:r>
            <a:endParaRPr lang="en-US" sz="3200" b="1">
              <a:solidFill>
                <a:srgbClr val="23262A"/>
              </a:solidFill>
              <a:latin typeface="Aptos"/>
              <a:sym typeface="+mn-ea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268210" y="4668520"/>
            <a:ext cx="16593820" cy="504825"/>
          </a:xfrm>
          <a:prstGeom prst="rect">
            <a:avLst/>
          </a:prstGeom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0">
            <a:srgbClr val="FFFFFF"/>
          </a:lnRef>
          <a:fillRef idx="2">
            <a:schemeClr val="accent2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72000" tIns="72000" rIns="72000" bIns="72000" anchor="ctr">
            <a:noAutofit/>
          </a:bodyPr>
          <a:lstStyle/>
          <a:p>
            <a:pPr algn="ctr"/>
            <a:r>
              <a:rPr sz="2400" b="1">
                <a:solidFill>
                  <a:schemeClr val="bg1">
                    <a:lumMod val="50000"/>
                  </a:schemeClr>
                </a:solidFill>
                <a:latin typeface="Aptos"/>
              </a:rPr>
              <a:t>LITERATURE SYNTHESIS  •  PUBLIC-DATA ANALYSIS  •  COMPUTATIONAL HYPOTHESIS GENERATION</a:t>
            </a:r>
            <a:endParaRPr sz="2400" b="1">
              <a:solidFill>
                <a:schemeClr val="bg1">
                  <a:lumMod val="50000"/>
                </a:schemeClr>
              </a:solidFill>
              <a:latin typeface="Aptos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1206500" y="5358130"/>
            <a:ext cx="27809190" cy="2266950"/>
          </a:xfrm>
          <a:prstGeom prst="roundRect">
            <a:avLst/>
          </a:prstGeom>
          <a:solidFill>
            <a:srgbClr val="FFFFFF"/>
          </a:solidFill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95095" y="5540375"/>
            <a:ext cx="27477085" cy="1627505"/>
          </a:xfrm>
          <a:prstGeom prst="rect">
            <a:avLst/>
          </a:prstGeom>
          <a:noFill/>
          <a:ln>
            <a:noFill/>
          </a:ln>
        </p:spPr>
        <p:txBody>
          <a:bodyPr wrap="square" lIns="72000" tIns="72000" rIns="72000" bIns="72000" anchor="t">
            <a:noAutofit/>
          </a:bodyPr>
          <a:lstStyle/>
          <a:p>
            <a:pPr algn="l"/>
            <a:r>
              <a:rPr sz="2400" b="1">
                <a:solidFill>
                  <a:srgbClr val="B1482B"/>
                </a:solidFill>
                <a:latin typeface="Aptos"/>
              </a:rPr>
              <a:t>THE CENTRAL HYPOTHESIS</a:t>
            </a:r>
            <a:r>
              <a:rPr lang="en-US" sz="2400" b="1">
                <a:solidFill>
                  <a:srgbClr val="B1482B"/>
                </a:solidFill>
                <a:latin typeface="Aptos"/>
              </a:rPr>
              <a:t> : </a:t>
            </a:r>
            <a:r>
              <a:rPr sz="2600">
                <a:solidFill>
                  <a:srgbClr val="23262A"/>
                </a:solidFill>
                <a:latin typeface="Roboto" panose="02000000000000000000" charset="0"/>
                <a:cs typeface="Roboto" panose="02000000000000000000" charset="0"/>
                <a:sym typeface="+mn-ea"/>
              </a:rPr>
              <a:t>Refractory cancers may acquire or retain dependencies on iron metabolism, lipid remodeling and antioxidant defense. Ferroptosis exploits these vulnerabilities by overwhelming the cellular capacity to detoxify phospholipid peroxides.</a:t>
            </a:r>
            <a:endParaRPr sz="2400" b="0">
              <a:solidFill>
                <a:srgbClr val="23262A"/>
              </a:solidFill>
              <a:latin typeface="Roboto" panose="02000000000000000000" charset="0"/>
              <a:cs typeface="Roboto" panose="02000000000000000000" charset="0"/>
            </a:endParaRPr>
          </a:p>
          <a:p>
            <a:pPr algn="ctr"/>
            <a:endParaRPr lang="en-US" sz="2400" b="1">
              <a:solidFill>
                <a:srgbClr val="B1482B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395095" y="6550660"/>
            <a:ext cx="27237690" cy="617220"/>
          </a:xfrm>
          <a:prstGeom prst="rect">
            <a:avLst/>
          </a:prstGeom>
          <a:noFill/>
        </p:spPr>
        <p:txBody>
          <a:bodyPr wrap="square" lIns="72000" tIns="72000" rIns="72000" bIns="72000" anchor="t">
            <a:noAutofit/>
          </a:bodyPr>
          <a:lstStyle/>
          <a:p>
            <a:pPr algn="l"/>
            <a:r>
              <a:rPr sz="2600" b="1">
                <a:solidFill>
                  <a:srgbClr val="2B6982"/>
                </a:solidFill>
                <a:latin typeface="Aptos"/>
              </a:rPr>
              <a:t>THERAPEUTIC RESISTANCE  →  METABOLIC / REDOX ADAPTATION  →  IRON + PUFA-LIPID DEPENDENCY  →  ANTIOXIDANT DEFENSE</a:t>
            </a:r>
            <a:r>
              <a:rPr lang="en-US" sz="2600" b="1">
                <a:solidFill>
                  <a:srgbClr val="2B6982"/>
                </a:solidFill>
                <a:latin typeface="Aptos"/>
              </a:rPr>
              <a:t> BECOMES CRITICAL </a:t>
            </a:r>
            <a:r>
              <a:rPr sz="2600" b="1">
                <a:solidFill>
                  <a:srgbClr val="2B6982"/>
                </a:solidFill>
                <a:latin typeface="Aptos"/>
                <a:sym typeface="+mn-ea"/>
              </a:rPr>
              <a:t> →  FERROPTOTIC</a:t>
            </a:r>
            <a:r>
              <a:rPr lang="en-US" sz="2600" b="1">
                <a:solidFill>
                  <a:srgbClr val="2B6982"/>
                </a:solidFill>
                <a:latin typeface="Aptos"/>
                <a:sym typeface="+mn-ea"/>
              </a:rPr>
              <a:t> </a:t>
            </a:r>
            <a:r>
              <a:rPr sz="2600" b="1">
                <a:solidFill>
                  <a:srgbClr val="2B6982"/>
                </a:solidFill>
                <a:latin typeface="Aptos"/>
                <a:sym typeface="+mn-ea"/>
              </a:rPr>
              <a:t>VULNERABILITY</a:t>
            </a:r>
            <a:r>
              <a:rPr lang="en-US" sz="2600" b="1">
                <a:solidFill>
                  <a:srgbClr val="2B6982"/>
                </a:solidFill>
                <a:latin typeface="Aptos"/>
                <a:sym typeface="+mn-ea"/>
              </a:rPr>
              <a:t> </a:t>
            </a:r>
            <a:r>
              <a:rPr sz="2600" b="1">
                <a:solidFill>
                  <a:srgbClr val="2B6982"/>
                </a:solidFill>
                <a:latin typeface="Aptos"/>
                <a:sym typeface="+mn-ea"/>
              </a:rPr>
              <a:t>→ </a:t>
            </a:r>
            <a:r>
              <a:rPr lang="en-US" sz="2600" b="1">
                <a:solidFill>
                  <a:srgbClr val="2B6982"/>
                </a:solidFill>
                <a:latin typeface="Aptos"/>
                <a:sym typeface="+mn-ea"/>
              </a:rPr>
              <a:t>POTENTIAL THERAPUTIC OPPORTUNITY</a:t>
            </a:r>
            <a:endParaRPr sz="2600" b="1">
              <a:solidFill>
                <a:srgbClr val="2B6982"/>
              </a:solidFill>
              <a:latin typeface="Aptos"/>
            </a:endParaRPr>
          </a:p>
          <a:p>
            <a:pPr algn="ctr"/>
            <a:r>
              <a:rPr lang="en-US" sz="2600" b="1">
                <a:solidFill>
                  <a:srgbClr val="2B6982"/>
                </a:solidFill>
                <a:latin typeface="Aptos"/>
              </a:rPr>
              <a:t> </a:t>
            </a:r>
            <a:r>
              <a:rPr sz="2600" b="1">
                <a:solidFill>
                  <a:srgbClr val="2B6982"/>
                </a:solidFill>
                <a:latin typeface="Aptos"/>
              </a:rPr>
              <a:t>  </a:t>
            </a:r>
            <a:endParaRPr sz="2600" b="1">
              <a:solidFill>
                <a:srgbClr val="2B6982"/>
              </a:solidFill>
              <a:latin typeface="Aptos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744855" y="8111490"/>
            <a:ext cx="9217660" cy="708025"/>
          </a:xfrm>
          <a:prstGeom prst="roundRect">
            <a:avLst/>
          </a:prstGeom>
          <a:solidFill>
            <a:schemeClr val="tx2">
              <a:lumMod val="75000"/>
            </a:schemeClr>
          </a:solidFill>
          <a:ln>
            <a:solidFill>
              <a:schemeClr val="accent1">
                <a:lumMod val="75000"/>
                <a:alpha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35380" y="8111490"/>
            <a:ext cx="8417560" cy="542290"/>
          </a:xfrm>
          <a:prstGeom prst="rect">
            <a:avLst/>
          </a:prstGeom>
          <a:noFill/>
        </p:spPr>
        <p:style>
          <a:lnRef idx="0">
            <a:srgbClr val="FFFFFF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 lIns="72000" tIns="72000" rIns="72000" bIns="72000" anchor="t">
            <a:noAutofit/>
          </a:bodyPr>
          <a:lstStyle/>
          <a:p>
            <a:pPr algn="ctr"/>
            <a:r>
              <a:rPr sz="3600" b="1">
                <a:solidFill>
                  <a:schemeClr val="bg1"/>
                </a:solidFill>
                <a:latin typeface="Aptos"/>
              </a:rPr>
              <a:t>  </a:t>
            </a:r>
            <a:r>
              <a:rPr lang="en-US" sz="3600" b="1">
                <a:solidFill>
                  <a:schemeClr val="bg1"/>
                </a:solidFill>
                <a:latin typeface="Aptos"/>
              </a:rPr>
              <a:t>1. </a:t>
            </a:r>
            <a:r>
              <a:rPr sz="3600" b="1">
                <a:solidFill>
                  <a:schemeClr val="bg1"/>
                </a:solidFill>
                <a:latin typeface="Aptos"/>
              </a:rPr>
              <a:t>THE PROBLEM</a:t>
            </a:r>
            <a:endParaRPr sz="3600" b="1">
              <a:solidFill>
                <a:schemeClr val="bg1"/>
              </a:solidFill>
              <a:latin typeface="Aptos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706755" y="8964295"/>
            <a:ext cx="9252585" cy="2800350"/>
          </a:xfrm>
          <a:prstGeom prst="roundRect">
            <a:avLst/>
          </a:prstGeom>
          <a:solidFill>
            <a:srgbClr val="FFFFFF"/>
          </a:solidFill>
          <a:ln w="952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5830" y="9144000"/>
            <a:ext cx="7578090" cy="791845"/>
          </a:xfrm>
          <a:prstGeom prst="rect">
            <a:avLst/>
          </a:prstGeom>
          <a:noFill/>
        </p:spPr>
        <p:txBody>
          <a:bodyPr wrap="square" lIns="72000" tIns="72000" rIns="72000" bIns="72000" anchor="t">
            <a:noAutofit/>
          </a:bodyPr>
          <a:lstStyle/>
          <a:p>
            <a:pPr algn="l"/>
            <a:r>
              <a:rPr sz="2600" b="1">
                <a:solidFill>
                  <a:srgbClr val="B1482B"/>
                </a:solidFill>
                <a:latin typeface="Aptos"/>
              </a:rPr>
              <a:t>WHY DO REFRACTORY CANCERS REMAIN DIFFICULT TO TARGET?</a:t>
            </a:r>
            <a:endParaRPr sz="2600" b="1">
              <a:solidFill>
                <a:srgbClr val="B1482B"/>
              </a:solidFill>
              <a:latin typeface="Aptos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704215" y="10294620"/>
            <a:ext cx="9260205" cy="5892165"/>
          </a:xfrm>
          <a:prstGeom prst="roundRect">
            <a:avLst/>
          </a:prstGeom>
          <a:solidFill>
            <a:schemeClr val="bg1"/>
          </a:solidFill>
          <a:ln w="952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n>
                <a:solidFill>
                  <a:schemeClr val="accent1"/>
                </a:solidFill>
              </a:ln>
              <a:solidFill>
                <a:schemeClr val="lt1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800225" y="15273020"/>
            <a:ext cx="6930390" cy="441960"/>
          </a:xfrm>
          <a:prstGeom prst="rect">
            <a:avLst/>
          </a:prstGeom>
          <a:noFill/>
        </p:spPr>
        <p:txBody>
          <a:bodyPr wrap="square" lIns="72000" tIns="72000" rIns="72000" bIns="72000" anchor="t">
            <a:noAutofit/>
          </a:bodyPr>
          <a:lstStyle/>
          <a:p>
            <a:pPr algn="l"/>
            <a:r>
              <a:rPr>
                <a:solidFill>
                  <a:srgbClr val="23262A"/>
                </a:solidFill>
                <a:latin typeface="Aptos"/>
              </a:rPr>
              <a:t>Resistance to one mechanism may expose dependence on another survival system</a:t>
            </a:r>
            <a:r>
              <a:rPr sz="1700">
                <a:solidFill>
                  <a:srgbClr val="23262A"/>
                </a:solidFill>
                <a:latin typeface="Aptos"/>
              </a:rPr>
              <a:t>.</a:t>
            </a:r>
            <a:endParaRPr sz="1700">
              <a:solidFill>
                <a:srgbClr val="23262A"/>
              </a:solidFill>
              <a:latin typeface="Aptos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10337800" y="8964930"/>
            <a:ext cx="10560685" cy="12440285"/>
          </a:xfrm>
          <a:prstGeom prst="roundRect">
            <a:avLst/>
          </a:prstGeom>
          <a:solidFill>
            <a:schemeClr val="bg1"/>
          </a:solidFill>
          <a:ln w="9525" cmpd="sng">
            <a:solidFill>
              <a:schemeClr val="accent6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106690" y="9144095"/>
            <a:ext cx="7488000" cy="648000"/>
          </a:xfrm>
          <a:prstGeom prst="rect">
            <a:avLst/>
          </a:prstGeom>
          <a:noFill/>
        </p:spPr>
        <p:txBody>
          <a:bodyPr wrap="square" lIns="72000" tIns="72000" rIns="72000" bIns="72000" anchor="t">
            <a:spAutoFit/>
          </a:bodyPr>
          <a:lstStyle/>
          <a:p>
            <a:pPr algn="ctr"/>
            <a:r>
              <a:rPr sz="2500" b="1">
                <a:solidFill>
                  <a:srgbClr val="B1482B"/>
                </a:solidFill>
                <a:latin typeface="Aptos"/>
              </a:rPr>
              <a:t>THE BIOCHEMICAL ENGINE OF FERROPTOSIS</a:t>
            </a:r>
            <a:endParaRPr sz="2500" b="1">
              <a:solidFill>
                <a:srgbClr val="B1482B"/>
              </a:solidFill>
              <a:latin typeface="Aptos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12708330" y="20120385"/>
            <a:ext cx="7128000" cy="758825"/>
          </a:xfrm>
          <a:prstGeom prst="rect">
            <a:avLst/>
          </a:prstGeom>
          <a:noFill/>
        </p:spPr>
        <p:txBody>
          <a:bodyPr wrap="square" lIns="72000" tIns="72000" rIns="72000" bIns="72000" anchor="t">
            <a:spAutoFit/>
          </a:bodyPr>
          <a:lstStyle/>
          <a:p>
            <a:pPr algn="l"/>
            <a:r>
              <a:rPr sz="2000">
                <a:solidFill>
                  <a:srgbClr val="23262A"/>
                </a:solidFill>
                <a:latin typeface="Roboto" panose="02000000000000000000" charset="0"/>
                <a:cs typeface="Roboto" panose="02000000000000000000" charset="0"/>
              </a:rPr>
              <a:t>Ferroptotic susceptibility = </a:t>
            </a:r>
            <a:r>
              <a:rPr lang="en-US" sz="2000">
                <a:solidFill>
                  <a:srgbClr val="23262A"/>
                </a:solidFill>
                <a:latin typeface="Roboto" panose="02000000000000000000" charset="0"/>
                <a:cs typeface="Roboto" panose="02000000000000000000" charset="0"/>
              </a:rPr>
              <a:t>L</a:t>
            </a:r>
            <a:r>
              <a:rPr sz="2000">
                <a:solidFill>
                  <a:srgbClr val="23262A"/>
                </a:solidFill>
                <a:latin typeface="Roboto" panose="02000000000000000000" charset="0"/>
                <a:cs typeface="Roboto" panose="02000000000000000000" charset="0"/>
              </a:rPr>
              <a:t>ipid</a:t>
            </a:r>
            <a:r>
              <a:rPr lang="en-US" sz="2000">
                <a:solidFill>
                  <a:srgbClr val="23262A"/>
                </a:solidFill>
                <a:latin typeface="Roboto" panose="02000000000000000000" charset="0"/>
                <a:cs typeface="Roboto" panose="02000000000000000000" charset="0"/>
              </a:rPr>
              <a:t> </a:t>
            </a:r>
            <a:r>
              <a:rPr sz="2000">
                <a:solidFill>
                  <a:srgbClr val="23262A"/>
                </a:solidFill>
                <a:latin typeface="Roboto" panose="02000000000000000000" charset="0"/>
                <a:cs typeface="Roboto" panose="02000000000000000000" charset="0"/>
              </a:rPr>
              <a:t>peroxidation pressure balanced against antioxidant defenses.</a:t>
            </a:r>
            <a:endParaRPr sz="2000">
              <a:solidFill>
                <a:srgbClr val="23262A"/>
              </a:solidFill>
              <a:latin typeface="Roboto" panose="02000000000000000000" charset="0"/>
              <a:cs typeface="Roboto" panose="02000000000000000000" charset="0"/>
            </a:endParaRPr>
          </a:p>
        </p:txBody>
      </p:sp>
      <p:sp>
        <p:nvSpPr>
          <p:cNvPr id="71" name="Rounded Rectangle 70"/>
          <p:cNvSpPr/>
          <p:nvPr/>
        </p:nvSpPr>
        <p:spPr>
          <a:xfrm>
            <a:off x="10337800" y="22610445"/>
            <a:ext cx="10560685" cy="6118860"/>
          </a:xfrm>
          <a:prstGeom prst="roundRect">
            <a:avLst/>
          </a:prstGeom>
          <a:solidFill>
            <a:schemeClr val="bg1"/>
          </a:solidFill>
          <a:ln w="952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 algn="ctr"/>
          </a:p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1012170" y="22662515"/>
            <a:ext cx="9256395" cy="684530"/>
          </a:xfrm>
          <a:prstGeom prst="rect">
            <a:avLst/>
          </a:prstGeom>
          <a:noFill/>
        </p:spPr>
        <p:txBody>
          <a:bodyPr wrap="square" lIns="72000" tIns="72000" rIns="72000" bIns="72000" anchor="t">
            <a:noAutofit/>
          </a:bodyPr>
          <a:lstStyle/>
          <a:p>
            <a:pPr algn="ctr"/>
            <a:r>
              <a:rPr sz="2600" b="1">
                <a:solidFill>
                  <a:schemeClr val="accent2">
                    <a:lumMod val="75000"/>
                  </a:schemeClr>
                </a:solidFill>
                <a:latin typeface="Aptos"/>
              </a:rPr>
              <a:t>FERROPTOSIS AS A MULTI-NODE TARGETING NETWORK</a:t>
            </a:r>
            <a:endParaRPr sz="2600" b="1">
              <a:solidFill>
                <a:schemeClr val="accent2">
                  <a:lumMod val="75000"/>
                </a:schemeClr>
              </a:solidFill>
              <a:latin typeface="Aptos"/>
            </a:endParaRPr>
          </a:p>
        </p:txBody>
      </p:sp>
      <p:sp>
        <p:nvSpPr>
          <p:cNvPr id="102" name="Rounded Rectangle 101"/>
          <p:cNvSpPr/>
          <p:nvPr/>
        </p:nvSpPr>
        <p:spPr>
          <a:xfrm>
            <a:off x="21769070" y="21276310"/>
            <a:ext cx="7282815" cy="6407785"/>
          </a:xfrm>
          <a:prstGeom prst="roundRect">
            <a:avLst/>
          </a:prstGeom>
          <a:solidFill>
            <a:srgbClr val="FFFFFF"/>
          </a:solidFill>
          <a:ln>
            <a:solidFill>
              <a:srgbClr val="2B69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ounded Rectangle 103"/>
          <p:cNvSpPr/>
          <p:nvPr/>
        </p:nvSpPr>
        <p:spPr>
          <a:xfrm>
            <a:off x="21816000" y="22392000"/>
            <a:ext cx="6264000" cy="576000"/>
          </a:xfrm>
          <a:prstGeom prst="roundRect">
            <a:avLst/>
          </a:prstGeom>
          <a:solidFill>
            <a:srgbClr val="EFF6F7"/>
          </a:solidFill>
          <a:ln>
            <a:solidFill>
              <a:srgbClr val="2B69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21924000" y="22428000"/>
            <a:ext cx="6048000" cy="468000"/>
          </a:xfrm>
          <a:prstGeom prst="rect">
            <a:avLst/>
          </a:prstGeom>
          <a:noFill/>
        </p:spPr>
        <p:txBody>
          <a:bodyPr wrap="square" lIns="72000" tIns="72000" rIns="72000" bIns="72000" anchor="ctr">
            <a:spAutoFit/>
          </a:bodyPr>
          <a:lstStyle/>
          <a:p>
            <a:pPr algn="ctr"/>
            <a:r>
              <a:rPr sz="1100" b="1">
                <a:solidFill>
                  <a:srgbClr val="2B6982"/>
                </a:solidFill>
                <a:latin typeface="Aptos"/>
              </a:rPr>
              <a:t>PUBLIC CANCER DATA</a:t>
            </a:r>
            <a:endParaRPr sz="1100" b="1">
              <a:solidFill>
                <a:srgbClr val="2B6982"/>
              </a:solidFill>
              <a:latin typeface="Aptos"/>
            </a:endParaRPr>
          </a:p>
        </p:txBody>
      </p:sp>
      <p:cxnSp>
        <p:nvCxnSpPr>
          <p:cNvPr id="106" name="Connector 105"/>
          <p:cNvCxnSpPr/>
          <p:nvPr/>
        </p:nvCxnSpPr>
        <p:spPr>
          <a:xfrm>
            <a:off x="24948000" y="22968000"/>
            <a:ext cx="0" cy="144000"/>
          </a:xfrm>
          <a:prstGeom prst="line">
            <a:avLst/>
          </a:prstGeom>
          <a:ln w="12700">
            <a:solidFill>
              <a:srgbClr val="2B69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" name="Rounded Rectangle 106"/>
          <p:cNvSpPr/>
          <p:nvPr/>
        </p:nvSpPr>
        <p:spPr>
          <a:xfrm>
            <a:off x="21816000" y="23148000"/>
            <a:ext cx="6264000" cy="576000"/>
          </a:xfrm>
          <a:prstGeom prst="roundRect">
            <a:avLst/>
          </a:prstGeom>
          <a:solidFill>
            <a:srgbClr val="EFF6F7"/>
          </a:solidFill>
          <a:ln>
            <a:solidFill>
              <a:srgbClr val="2B69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21924000" y="23184000"/>
            <a:ext cx="6048000" cy="468000"/>
          </a:xfrm>
          <a:prstGeom prst="rect">
            <a:avLst/>
          </a:prstGeom>
          <a:noFill/>
        </p:spPr>
        <p:txBody>
          <a:bodyPr wrap="square" lIns="72000" tIns="72000" rIns="72000" bIns="72000" anchor="ctr">
            <a:spAutoFit/>
          </a:bodyPr>
          <a:lstStyle/>
          <a:p>
            <a:pPr algn="ctr"/>
            <a:r>
              <a:rPr sz="1100" b="1">
                <a:solidFill>
                  <a:srgbClr val="2B6982"/>
                </a:solidFill>
                <a:latin typeface="Aptos"/>
              </a:rPr>
              <a:t>QC &amp; PREPROCESSING</a:t>
            </a:r>
            <a:endParaRPr sz="1100" b="1">
              <a:solidFill>
                <a:srgbClr val="2B6982"/>
              </a:solidFill>
              <a:latin typeface="Aptos"/>
            </a:endParaRPr>
          </a:p>
        </p:txBody>
      </p:sp>
      <p:cxnSp>
        <p:nvCxnSpPr>
          <p:cNvPr id="109" name="Connector 108"/>
          <p:cNvCxnSpPr/>
          <p:nvPr/>
        </p:nvCxnSpPr>
        <p:spPr>
          <a:xfrm>
            <a:off x="24948000" y="23724000"/>
            <a:ext cx="0" cy="144000"/>
          </a:xfrm>
          <a:prstGeom prst="line">
            <a:avLst/>
          </a:prstGeom>
          <a:ln w="12700">
            <a:solidFill>
              <a:srgbClr val="2B69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Rounded Rectangle 109"/>
          <p:cNvSpPr/>
          <p:nvPr/>
        </p:nvSpPr>
        <p:spPr>
          <a:xfrm>
            <a:off x="21816000" y="23904000"/>
            <a:ext cx="6264000" cy="576000"/>
          </a:xfrm>
          <a:prstGeom prst="roundRect">
            <a:avLst/>
          </a:prstGeom>
          <a:solidFill>
            <a:srgbClr val="EFF6F7"/>
          </a:solidFill>
          <a:ln>
            <a:solidFill>
              <a:srgbClr val="2B69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21924000" y="23940000"/>
            <a:ext cx="6048000" cy="468000"/>
          </a:xfrm>
          <a:prstGeom prst="rect">
            <a:avLst/>
          </a:prstGeom>
          <a:noFill/>
        </p:spPr>
        <p:txBody>
          <a:bodyPr wrap="square" lIns="72000" tIns="72000" rIns="72000" bIns="72000" anchor="ctr">
            <a:spAutoFit/>
          </a:bodyPr>
          <a:lstStyle/>
          <a:p>
            <a:pPr algn="ctr"/>
            <a:r>
              <a:rPr sz="1100" b="1">
                <a:solidFill>
                  <a:srgbClr val="2B6982"/>
                </a:solidFill>
                <a:latin typeface="Aptos"/>
              </a:rPr>
              <a:t>SENSITIVE vs RESISTANT</a:t>
            </a:r>
            <a:endParaRPr sz="1100" b="1">
              <a:solidFill>
                <a:srgbClr val="2B6982"/>
              </a:solidFill>
              <a:latin typeface="Aptos"/>
            </a:endParaRPr>
          </a:p>
        </p:txBody>
      </p:sp>
      <p:cxnSp>
        <p:nvCxnSpPr>
          <p:cNvPr id="112" name="Connector 111"/>
          <p:cNvCxnSpPr/>
          <p:nvPr/>
        </p:nvCxnSpPr>
        <p:spPr>
          <a:xfrm>
            <a:off x="24948000" y="24480000"/>
            <a:ext cx="0" cy="144000"/>
          </a:xfrm>
          <a:prstGeom prst="line">
            <a:avLst/>
          </a:prstGeom>
          <a:ln w="12700">
            <a:solidFill>
              <a:srgbClr val="2B69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3" name="Rounded Rectangle 112"/>
          <p:cNvSpPr/>
          <p:nvPr/>
        </p:nvSpPr>
        <p:spPr>
          <a:xfrm>
            <a:off x="21816000" y="24660000"/>
            <a:ext cx="6264000" cy="576000"/>
          </a:xfrm>
          <a:prstGeom prst="roundRect">
            <a:avLst/>
          </a:prstGeom>
          <a:solidFill>
            <a:srgbClr val="EFF6F7"/>
          </a:solidFill>
          <a:ln>
            <a:solidFill>
              <a:srgbClr val="2B69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21924000" y="24696000"/>
            <a:ext cx="6048000" cy="468000"/>
          </a:xfrm>
          <a:prstGeom prst="rect">
            <a:avLst/>
          </a:prstGeom>
          <a:noFill/>
        </p:spPr>
        <p:txBody>
          <a:bodyPr wrap="square" lIns="72000" tIns="72000" rIns="72000" bIns="72000" anchor="ctr">
            <a:spAutoFit/>
          </a:bodyPr>
          <a:lstStyle/>
          <a:p>
            <a:pPr algn="ctr"/>
            <a:r>
              <a:rPr sz="1100" b="1">
                <a:solidFill>
                  <a:srgbClr val="2B6982"/>
                </a:solidFill>
                <a:latin typeface="Aptos"/>
              </a:rPr>
              <a:t>FERROPTOSIS GENE SET</a:t>
            </a:r>
            <a:endParaRPr sz="1100" b="1">
              <a:solidFill>
                <a:srgbClr val="2B6982"/>
              </a:solidFill>
              <a:latin typeface="Aptos"/>
            </a:endParaRPr>
          </a:p>
        </p:txBody>
      </p:sp>
      <p:cxnSp>
        <p:nvCxnSpPr>
          <p:cNvPr id="115" name="Connector 114"/>
          <p:cNvCxnSpPr/>
          <p:nvPr/>
        </p:nvCxnSpPr>
        <p:spPr>
          <a:xfrm>
            <a:off x="24948000" y="25236000"/>
            <a:ext cx="0" cy="144000"/>
          </a:xfrm>
          <a:prstGeom prst="line">
            <a:avLst/>
          </a:prstGeom>
          <a:ln w="12700">
            <a:solidFill>
              <a:srgbClr val="2B69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Rounded Rectangle 115"/>
          <p:cNvSpPr/>
          <p:nvPr/>
        </p:nvSpPr>
        <p:spPr>
          <a:xfrm>
            <a:off x="21816000" y="25416000"/>
            <a:ext cx="6264000" cy="576000"/>
          </a:xfrm>
          <a:prstGeom prst="roundRect">
            <a:avLst/>
          </a:prstGeom>
          <a:solidFill>
            <a:srgbClr val="EFF6F7"/>
          </a:solidFill>
          <a:ln>
            <a:solidFill>
              <a:srgbClr val="2B69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21924000" y="25452000"/>
            <a:ext cx="6048000" cy="468000"/>
          </a:xfrm>
          <a:prstGeom prst="rect">
            <a:avLst/>
          </a:prstGeom>
          <a:noFill/>
        </p:spPr>
        <p:txBody>
          <a:bodyPr wrap="square" lIns="72000" tIns="72000" rIns="72000" bIns="72000" anchor="ctr">
            <a:spAutoFit/>
          </a:bodyPr>
          <a:lstStyle/>
          <a:p>
            <a:pPr algn="ctr"/>
            <a:r>
              <a:rPr sz="1100" b="1">
                <a:solidFill>
                  <a:srgbClr val="2B6982"/>
                </a:solidFill>
                <a:latin typeface="Aptos"/>
              </a:rPr>
              <a:t>ENRICHMENT / SIGNATURE</a:t>
            </a:r>
            <a:endParaRPr sz="1100" b="1">
              <a:solidFill>
                <a:srgbClr val="2B6982"/>
              </a:solidFill>
              <a:latin typeface="Aptos"/>
            </a:endParaRPr>
          </a:p>
        </p:txBody>
      </p:sp>
      <p:cxnSp>
        <p:nvCxnSpPr>
          <p:cNvPr id="118" name="Connector 117"/>
          <p:cNvCxnSpPr/>
          <p:nvPr/>
        </p:nvCxnSpPr>
        <p:spPr>
          <a:xfrm>
            <a:off x="24948000" y="25992000"/>
            <a:ext cx="0" cy="144000"/>
          </a:xfrm>
          <a:prstGeom prst="line">
            <a:avLst/>
          </a:prstGeom>
          <a:ln w="12700">
            <a:solidFill>
              <a:srgbClr val="2B69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9" name="Rounded Rectangle 118"/>
          <p:cNvSpPr/>
          <p:nvPr/>
        </p:nvSpPr>
        <p:spPr>
          <a:xfrm>
            <a:off x="21816000" y="26172000"/>
            <a:ext cx="6264000" cy="576000"/>
          </a:xfrm>
          <a:prstGeom prst="roundRect">
            <a:avLst/>
          </a:prstGeom>
          <a:solidFill>
            <a:srgbClr val="EFF6F7"/>
          </a:solidFill>
          <a:ln>
            <a:solidFill>
              <a:srgbClr val="2B69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21924000" y="26208000"/>
            <a:ext cx="6048000" cy="468000"/>
          </a:xfrm>
          <a:prstGeom prst="rect">
            <a:avLst/>
          </a:prstGeom>
          <a:noFill/>
        </p:spPr>
        <p:txBody>
          <a:bodyPr wrap="square" lIns="72000" tIns="72000" rIns="72000" bIns="72000" anchor="ctr">
            <a:spAutoFit/>
          </a:bodyPr>
          <a:lstStyle/>
          <a:p>
            <a:pPr algn="ctr"/>
            <a:r>
              <a:rPr sz="1100" b="1">
                <a:solidFill>
                  <a:srgbClr val="2B6982"/>
                </a:solidFill>
                <a:latin typeface="Aptos"/>
              </a:rPr>
              <a:t>CLINICAL ASSOCIATION</a:t>
            </a:r>
            <a:endParaRPr sz="1100" b="1">
              <a:solidFill>
                <a:srgbClr val="2B6982"/>
              </a:solidFill>
              <a:latin typeface="Aptos"/>
            </a:endParaRPr>
          </a:p>
        </p:txBody>
      </p:sp>
      <p:cxnSp>
        <p:nvCxnSpPr>
          <p:cNvPr id="121" name="Connector 120"/>
          <p:cNvCxnSpPr/>
          <p:nvPr/>
        </p:nvCxnSpPr>
        <p:spPr>
          <a:xfrm>
            <a:off x="24948000" y="26748000"/>
            <a:ext cx="0" cy="144000"/>
          </a:xfrm>
          <a:prstGeom prst="line">
            <a:avLst/>
          </a:prstGeom>
          <a:ln w="12700">
            <a:solidFill>
              <a:srgbClr val="2B69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" name="Rounded Rectangle 121"/>
          <p:cNvSpPr/>
          <p:nvPr/>
        </p:nvSpPr>
        <p:spPr>
          <a:xfrm>
            <a:off x="21816000" y="26928000"/>
            <a:ext cx="6264000" cy="576000"/>
          </a:xfrm>
          <a:prstGeom prst="roundRect">
            <a:avLst/>
          </a:prstGeom>
          <a:solidFill>
            <a:srgbClr val="EFF6F7"/>
          </a:solidFill>
          <a:ln>
            <a:solidFill>
              <a:srgbClr val="2B69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21924000" y="26964000"/>
            <a:ext cx="6048000" cy="468000"/>
          </a:xfrm>
          <a:prstGeom prst="rect">
            <a:avLst/>
          </a:prstGeom>
          <a:noFill/>
        </p:spPr>
        <p:txBody>
          <a:bodyPr wrap="square" lIns="72000" tIns="72000" rIns="72000" bIns="72000" anchor="ctr">
            <a:spAutoFit/>
          </a:bodyPr>
          <a:lstStyle/>
          <a:p>
            <a:pPr algn="ctr"/>
            <a:r>
              <a:rPr sz="1100" b="1">
                <a:solidFill>
                  <a:srgbClr val="2B6982"/>
                </a:solidFill>
                <a:latin typeface="Aptos"/>
              </a:rPr>
              <a:t>CANDIDATE VULNERABILITY</a:t>
            </a:r>
            <a:endParaRPr sz="1100" b="1">
              <a:solidFill>
                <a:srgbClr val="2B6982"/>
              </a:solidFill>
              <a:latin typeface="Aptos"/>
            </a:endParaRPr>
          </a:p>
        </p:txBody>
      </p:sp>
      <p:sp>
        <p:nvSpPr>
          <p:cNvPr id="124" name="TextBox 123"/>
          <p:cNvSpPr txBox="1"/>
          <p:nvPr/>
        </p:nvSpPr>
        <p:spPr>
          <a:xfrm>
            <a:off x="21204000" y="27072000"/>
            <a:ext cx="7488000" cy="360000"/>
          </a:xfrm>
          <a:prstGeom prst="rect">
            <a:avLst/>
          </a:prstGeom>
          <a:noFill/>
        </p:spPr>
        <p:txBody>
          <a:bodyPr wrap="square" lIns="72000" tIns="72000" rIns="72000" bIns="72000" anchor="t">
            <a:spAutoFit/>
          </a:bodyPr>
          <a:lstStyle/>
          <a:p>
            <a:pPr algn="ctr"/>
            <a:r>
              <a:rPr sz="1200" b="0">
                <a:solidFill>
                  <a:srgbClr val="5C6065"/>
                </a:solidFill>
                <a:latin typeface="Aptos"/>
              </a:rPr>
              <a:t>Proposed public-dataset analysis; computational result only if actually executed.</a:t>
            </a:r>
            <a:endParaRPr sz="1200" b="0">
              <a:solidFill>
                <a:srgbClr val="5C6065"/>
              </a:solidFill>
              <a:latin typeface="Aptos"/>
            </a:endParaRPr>
          </a:p>
        </p:txBody>
      </p:sp>
      <p:sp>
        <p:nvSpPr>
          <p:cNvPr id="213" name="Rounded Rectangle 212"/>
          <p:cNvSpPr/>
          <p:nvPr/>
        </p:nvSpPr>
        <p:spPr>
          <a:xfrm>
            <a:off x="16876395" y="29716095"/>
            <a:ext cx="12751435" cy="6753225"/>
          </a:xfrm>
          <a:prstGeom prst="roundRect">
            <a:avLst/>
          </a:prstGeom>
          <a:solidFill>
            <a:srgbClr val="FBFBF9"/>
          </a:solidFill>
          <a:ln w="952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Rounded Rectangle 280"/>
          <p:cNvSpPr/>
          <p:nvPr/>
        </p:nvSpPr>
        <p:spPr>
          <a:xfrm>
            <a:off x="710565" y="23058755"/>
            <a:ext cx="9354820" cy="5633085"/>
          </a:xfrm>
          <a:prstGeom prst="roundRect">
            <a:avLst/>
          </a:prstGeom>
          <a:solidFill>
            <a:srgbClr val="FFFFFF"/>
          </a:solidFill>
          <a:ln w="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" name="Rounded Rectangle 303"/>
          <p:cNvSpPr/>
          <p:nvPr/>
        </p:nvSpPr>
        <p:spPr>
          <a:xfrm>
            <a:off x="699135" y="29735780"/>
            <a:ext cx="15989935" cy="5595620"/>
          </a:xfrm>
          <a:prstGeom prst="roundRect">
            <a:avLst/>
          </a:prstGeom>
          <a:solidFill>
            <a:srgbClr val="FFFFFF"/>
          </a:solidFill>
          <a:ln w="952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" name="Rounded Rectangle 319"/>
          <p:cNvSpPr/>
          <p:nvPr/>
        </p:nvSpPr>
        <p:spPr>
          <a:xfrm>
            <a:off x="693420" y="36696015"/>
            <a:ext cx="28952825" cy="2649855"/>
          </a:xfrm>
          <a:prstGeom prst="roundRect">
            <a:avLst/>
          </a:prstGeom>
          <a:solidFill>
            <a:srgbClr val="FFFFFF"/>
          </a:solidFill>
          <a:ln w="952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" name="Rounded Rectangle 324"/>
          <p:cNvSpPr/>
          <p:nvPr/>
        </p:nvSpPr>
        <p:spPr>
          <a:xfrm>
            <a:off x="10567670" y="8111490"/>
            <a:ext cx="9991090" cy="708660"/>
          </a:xfrm>
          <a:prstGeom prst="roundRect">
            <a:avLst/>
          </a:prstGeom>
          <a:solidFill>
            <a:schemeClr val="tx2">
              <a:lumMod val="75000"/>
            </a:schemeClr>
          </a:solidFill>
          <a:ln>
            <a:solidFill>
              <a:schemeClr val="accent1">
                <a:lumMod val="75000"/>
                <a:alpha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" name="TextBox 30"/>
          <p:cNvSpPr txBox="1"/>
          <p:nvPr/>
        </p:nvSpPr>
        <p:spPr>
          <a:xfrm>
            <a:off x="10767695" y="8111490"/>
            <a:ext cx="9323070" cy="709295"/>
          </a:xfrm>
          <a:prstGeom prst="rect">
            <a:avLst/>
          </a:prstGeom>
          <a:noFill/>
        </p:spPr>
        <p:txBody>
          <a:bodyPr wrap="square" lIns="72000" tIns="72000" rIns="72000" bIns="72000" anchor="t">
            <a:noAutofit/>
          </a:bodyPr>
          <a:lstStyle/>
          <a:p>
            <a:pPr algn="ctr"/>
            <a:r>
              <a:rPr lang="en-US" sz="3600" b="1">
                <a:solidFill>
                  <a:srgbClr val="FFFFFF"/>
                </a:solidFill>
                <a:latin typeface="Aptos"/>
              </a:rPr>
              <a:t>4.</a:t>
            </a:r>
            <a:r>
              <a:rPr sz="3600" b="1">
                <a:solidFill>
                  <a:srgbClr val="FFFFFF"/>
                </a:solidFill>
                <a:latin typeface="Aptos"/>
              </a:rPr>
              <a:t> FERROPTOSIS BIOCHEMISTRY</a:t>
            </a:r>
            <a:endParaRPr sz="36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327" name="Rounded Rectangle 326"/>
          <p:cNvSpPr/>
          <p:nvPr/>
        </p:nvSpPr>
        <p:spPr>
          <a:xfrm>
            <a:off x="738505" y="28915995"/>
            <a:ext cx="15542260" cy="695960"/>
          </a:xfrm>
          <a:prstGeom prst="roundRect">
            <a:avLst/>
          </a:prstGeom>
          <a:solidFill>
            <a:schemeClr val="tx2">
              <a:lumMod val="75000"/>
            </a:schemeClr>
          </a:solidFill>
          <a:ln>
            <a:solidFill>
              <a:schemeClr val="accent1">
                <a:lumMod val="75000"/>
                <a:alpha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" name="Rounded Rectangle 327"/>
          <p:cNvSpPr/>
          <p:nvPr/>
        </p:nvSpPr>
        <p:spPr>
          <a:xfrm>
            <a:off x="16819880" y="28852495"/>
            <a:ext cx="12748895" cy="744855"/>
          </a:xfrm>
          <a:prstGeom prst="roundRect">
            <a:avLst/>
          </a:prstGeom>
          <a:solidFill>
            <a:schemeClr val="tx2">
              <a:lumMod val="75000"/>
            </a:schemeClr>
          </a:solidFill>
          <a:ln>
            <a:solidFill>
              <a:schemeClr val="accent1">
                <a:lumMod val="75000"/>
                <a:alpha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" name="Rounded Rectangle 329"/>
          <p:cNvSpPr/>
          <p:nvPr/>
        </p:nvSpPr>
        <p:spPr>
          <a:xfrm>
            <a:off x="22564725" y="20483830"/>
            <a:ext cx="6487160" cy="526415"/>
          </a:xfrm>
          <a:prstGeom prst="roundRect">
            <a:avLst/>
          </a:prstGeom>
          <a:solidFill>
            <a:schemeClr val="tx2">
              <a:lumMod val="75000"/>
            </a:schemeClr>
          </a:solidFill>
          <a:ln>
            <a:solidFill>
              <a:srgbClr val="2326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" name="Rounded Rectangle 330"/>
          <p:cNvSpPr/>
          <p:nvPr/>
        </p:nvSpPr>
        <p:spPr>
          <a:xfrm>
            <a:off x="725805" y="16383635"/>
            <a:ext cx="9217660" cy="644525"/>
          </a:xfrm>
          <a:prstGeom prst="roundRect">
            <a:avLst/>
          </a:prstGeom>
          <a:solidFill>
            <a:schemeClr val="tx2">
              <a:lumMod val="75000"/>
            </a:schemeClr>
          </a:solidFill>
          <a:ln>
            <a:solidFill>
              <a:schemeClr val="accent1">
                <a:lumMod val="75000"/>
                <a:alpha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" name="Rounded Rectangle 331"/>
          <p:cNvSpPr/>
          <p:nvPr/>
        </p:nvSpPr>
        <p:spPr>
          <a:xfrm>
            <a:off x="784860" y="22251670"/>
            <a:ext cx="9269730" cy="644525"/>
          </a:xfrm>
          <a:prstGeom prst="roundRect">
            <a:avLst/>
          </a:prstGeom>
          <a:solidFill>
            <a:schemeClr val="tx2">
              <a:lumMod val="75000"/>
            </a:schemeClr>
          </a:solidFill>
          <a:ln>
            <a:solidFill>
              <a:schemeClr val="accent1">
                <a:lumMod val="75000"/>
                <a:alpha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" name="TextBox 86"/>
          <p:cNvSpPr txBox="1"/>
          <p:nvPr/>
        </p:nvSpPr>
        <p:spPr>
          <a:xfrm>
            <a:off x="1704125" y="22199050"/>
            <a:ext cx="7848000" cy="697230"/>
          </a:xfrm>
          <a:prstGeom prst="rect">
            <a:avLst/>
          </a:prstGeom>
          <a:noFill/>
        </p:spPr>
        <p:txBody>
          <a:bodyPr wrap="square" lIns="72000" tIns="72000" rIns="72000" bIns="72000" anchor="t">
            <a:spAutoFit/>
          </a:bodyPr>
          <a:lstStyle/>
          <a:p>
            <a:pPr algn="ctr"/>
            <a:r>
              <a:rPr lang="en-US" sz="3600" b="1">
                <a:solidFill>
                  <a:srgbClr val="FFFFFF"/>
                </a:solidFill>
                <a:latin typeface="Aptos"/>
              </a:rPr>
              <a:t>3. LITERATURE EVI</a:t>
            </a:r>
            <a:r>
              <a:rPr sz="3600" b="1">
                <a:solidFill>
                  <a:srgbClr val="FFFFFF"/>
                </a:solidFill>
                <a:latin typeface="Aptos"/>
              </a:rPr>
              <a:t>DENCE  </a:t>
            </a:r>
            <a:endParaRPr sz="36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338" name="TextBox 24"/>
          <p:cNvSpPr txBox="1"/>
          <p:nvPr/>
        </p:nvSpPr>
        <p:spPr>
          <a:xfrm>
            <a:off x="887550" y="16330895"/>
            <a:ext cx="7848000" cy="697230"/>
          </a:xfrm>
          <a:prstGeom prst="rect">
            <a:avLst/>
          </a:prstGeom>
          <a:noFill/>
        </p:spPr>
        <p:txBody>
          <a:bodyPr wrap="square" lIns="72000" tIns="72000" rIns="72000" bIns="72000" anchor="t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Aptos"/>
              </a:rPr>
              <a:t> </a:t>
            </a:r>
            <a:r>
              <a:rPr lang="en-US" sz="3600" b="1">
                <a:solidFill>
                  <a:srgbClr val="FFFFFF"/>
                </a:solidFill>
                <a:latin typeface="Aptos"/>
              </a:rPr>
              <a:t>2. </a:t>
            </a:r>
            <a:r>
              <a:rPr sz="3600" b="1">
                <a:solidFill>
                  <a:srgbClr val="FFFFFF"/>
                </a:solidFill>
                <a:latin typeface="Aptos"/>
              </a:rPr>
              <a:t>WHY FERROPTOSIS</a:t>
            </a:r>
            <a:r>
              <a:rPr lang="en-US" sz="3600" b="1">
                <a:solidFill>
                  <a:srgbClr val="FFFFFF"/>
                </a:solidFill>
                <a:latin typeface="Aptos"/>
              </a:rPr>
              <a:t> </a:t>
            </a:r>
            <a:r>
              <a:rPr sz="3600" b="1">
                <a:solidFill>
                  <a:srgbClr val="FFFFFF"/>
                </a:solidFill>
                <a:latin typeface="Aptos"/>
              </a:rPr>
              <a:t>?</a:t>
            </a:r>
            <a:endParaRPr sz="36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340" name="TextBox 100"/>
          <p:cNvSpPr txBox="1"/>
          <p:nvPr/>
        </p:nvSpPr>
        <p:spPr>
          <a:xfrm>
            <a:off x="23256240" y="20483830"/>
            <a:ext cx="5435600" cy="450850"/>
          </a:xfrm>
          <a:prstGeom prst="rect">
            <a:avLst/>
          </a:prstGeom>
          <a:noFill/>
        </p:spPr>
        <p:txBody>
          <a:bodyPr wrap="square" lIns="72000" tIns="72000" rIns="72000" bIns="72000" anchor="t">
            <a:no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06  COMPUTATIONAL ANALYSIS</a:t>
            </a:r>
            <a:endParaRPr sz="28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342" name="TextBox 279"/>
          <p:cNvSpPr txBox="1"/>
          <p:nvPr/>
        </p:nvSpPr>
        <p:spPr>
          <a:xfrm>
            <a:off x="17087850" y="28905835"/>
            <a:ext cx="12905740" cy="810260"/>
          </a:xfrm>
          <a:prstGeom prst="rect">
            <a:avLst/>
          </a:prstGeom>
          <a:noFill/>
        </p:spPr>
        <p:txBody>
          <a:bodyPr wrap="square" lIns="72000" tIns="72000" rIns="72000" bIns="72000" anchor="t">
            <a:noAutofit/>
          </a:bodyPr>
          <a:lstStyle/>
          <a:p>
            <a:pPr algn="ctr"/>
            <a:r>
              <a:rPr lang="en-US" altLang="en-US" sz="3600" b="1">
                <a:solidFill>
                  <a:srgbClr val="FFFFFF"/>
                </a:solidFill>
                <a:latin typeface="Aptos"/>
              </a:rPr>
              <a:t>7. FERROPTOSIS SIGNATURE &amp; SURVIVAL</a:t>
            </a:r>
            <a:endParaRPr lang="en-US" altLang="en-US" sz="36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343" name="TextBox 302"/>
          <p:cNvSpPr txBox="1"/>
          <p:nvPr/>
        </p:nvSpPr>
        <p:spPr>
          <a:xfrm>
            <a:off x="955675" y="28892500"/>
            <a:ext cx="15325090" cy="843280"/>
          </a:xfrm>
          <a:prstGeom prst="rect">
            <a:avLst/>
          </a:prstGeom>
          <a:noFill/>
        </p:spPr>
        <p:txBody>
          <a:bodyPr wrap="square" lIns="72000" tIns="72000" rIns="72000" bIns="72000" anchor="t">
            <a:no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Aptos"/>
              </a:rPr>
              <a:t>  </a:t>
            </a:r>
            <a:r>
              <a:rPr lang="en-US" sz="3600" b="1">
                <a:solidFill>
                  <a:srgbClr val="FFFFFF"/>
                </a:solidFill>
                <a:latin typeface="Aptos"/>
              </a:rPr>
              <a:t>8. </a:t>
            </a:r>
            <a:r>
              <a:rPr sz="3600" b="1">
                <a:solidFill>
                  <a:srgbClr val="FFFFFF"/>
                </a:solidFill>
                <a:latin typeface="Aptos"/>
                <a:sym typeface="+mn-ea"/>
              </a:rPr>
              <a:t>PROPOSED THERAPEUTIC FRAMEWORK</a:t>
            </a:r>
            <a:endParaRPr lang="en-US" sz="3600" b="1">
              <a:solidFill>
                <a:srgbClr val="FFFFFF"/>
              </a:solidFill>
              <a:latin typeface="Aptos"/>
            </a:endParaRPr>
          </a:p>
        </p:txBody>
      </p:sp>
      <p:pic>
        <p:nvPicPr>
          <p:cNvPr id="348" name="Picture 347" descr="Screenshot 2026-09-08 221809-Picsart-AiImageEnhanc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5785" y="10504805"/>
            <a:ext cx="2093595" cy="1627505"/>
          </a:xfrm>
          <a:prstGeom prst="rect">
            <a:avLst/>
          </a:prstGeom>
        </p:spPr>
      </p:pic>
      <p:pic>
        <p:nvPicPr>
          <p:cNvPr id="350" name="Picture 349" descr="Screenshot 2026-09-08 221842-Picsart-AiImageEnhanc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2195" y="10455275"/>
            <a:ext cx="2012950" cy="1812290"/>
          </a:xfrm>
          <a:prstGeom prst="rect">
            <a:avLst/>
          </a:prstGeom>
        </p:spPr>
      </p:pic>
      <p:pic>
        <p:nvPicPr>
          <p:cNvPr id="351" name="Picture 350" descr="Screenshot 2026-09-08 221830-Picsart-AiImageEnhance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92295" y="10455275"/>
            <a:ext cx="2447925" cy="1664970"/>
          </a:xfrm>
          <a:prstGeom prst="rect">
            <a:avLst/>
          </a:prstGeom>
        </p:spPr>
      </p:pic>
      <p:sp>
        <p:nvSpPr>
          <p:cNvPr id="352" name="Text Box 351"/>
          <p:cNvSpPr txBox="1"/>
          <p:nvPr/>
        </p:nvSpPr>
        <p:spPr>
          <a:xfrm>
            <a:off x="1687830" y="12275820"/>
            <a:ext cx="2813050" cy="343916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p>
            <a:r>
              <a:rPr lang="en-US" altLang="en-US" sz="2400" b="1">
                <a:latin typeface="Roboto" panose="02000000000000000000" charset="0"/>
                <a:cs typeface="Roboto" panose="02000000000000000000" charset="0"/>
              </a:rPr>
              <a:t>01: TARGET ALTERATION</a:t>
            </a:r>
            <a:endParaRPr lang="en-US" altLang="en-US" sz="2400" b="1">
              <a:latin typeface="Roboto" panose="02000000000000000000" charset="0"/>
              <a:cs typeface="Roboto" panose="02000000000000000000" charset="0"/>
            </a:endParaRPr>
          </a:p>
          <a:p>
            <a:endParaRPr lang="en-US" altLang="en-US" sz="2000"/>
          </a:p>
          <a:p>
            <a:r>
              <a:rPr lang="en-US" altLang="en-US" sz="2000">
                <a:latin typeface="Roboto" panose="02000000000000000000" charset="0"/>
                <a:cs typeface="Roboto" panose="02000000000000000000" charset="0"/>
              </a:rPr>
              <a:t>Mutations, pathway rewiring and loss of dependence on the original therapeutic target can reduce treatment efficacy.</a:t>
            </a:r>
            <a:endParaRPr lang="en-US" sz="2000">
              <a:latin typeface="Roboto" panose="02000000000000000000" charset="0"/>
              <a:cs typeface="Roboto" panose="02000000000000000000" charset="0"/>
            </a:endParaRPr>
          </a:p>
        </p:txBody>
      </p:sp>
      <p:sp>
        <p:nvSpPr>
          <p:cNvPr id="353" name="Text Box 352"/>
          <p:cNvSpPr txBox="1"/>
          <p:nvPr/>
        </p:nvSpPr>
        <p:spPr>
          <a:xfrm>
            <a:off x="4284345" y="12383770"/>
            <a:ext cx="2983865" cy="35280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 sz="2400" b="1">
                <a:latin typeface="Roboto" panose="02000000000000000000" charset="0"/>
                <a:cs typeface="Roboto" panose="02000000000000000000" charset="0"/>
              </a:rPr>
              <a:t>02: METABOLIC PLASTICITY</a:t>
            </a:r>
            <a:endParaRPr lang="en-US" altLang="en-US" sz="2400" b="1">
              <a:latin typeface="Roboto" panose="02000000000000000000" charset="0"/>
              <a:cs typeface="Roboto" panose="02000000000000000000" charset="0"/>
            </a:endParaRPr>
          </a:p>
          <a:p>
            <a:endParaRPr lang="en-US" altLang="en-US"/>
          </a:p>
          <a:p>
            <a:r>
              <a:rPr lang="en-US" altLang="en-US" sz="2000">
                <a:latin typeface="Roboto" panose="02000000000000000000" charset="0"/>
                <a:cs typeface="Roboto" panose="02000000000000000000" charset="0"/>
              </a:rPr>
              <a:t>Resistant cells can remodel glucose, lipid, amino-acid and antioxidant metabolism to maintain survival under therapeutic stress</a:t>
            </a:r>
            <a:r>
              <a:rPr lang="en-US" altLang="en-US" sz="2000"/>
              <a:t>.</a:t>
            </a:r>
            <a:endParaRPr lang="en-US" sz="2000"/>
          </a:p>
        </p:txBody>
      </p:sp>
      <p:sp>
        <p:nvSpPr>
          <p:cNvPr id="354" name="Text Box 353"/>
          <p:cNvSpPr txBox="1"/>
          <p:nvPr/>
        </p:nvSpPr>
        <p:spPr>
          <a:xfrm>
            <a:off x="7402195" y="12383770"/>
            <a:ext cx="2317115" cy="30861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 sz="2400" b="1">
                <a:latin typeface="Roboto" panose="02000000000000000000" charset="0"/>
                <a:cs typeface="Roboto" panose="02000000000000000000" charset="0"/>
              </a:rPr>
              <a:t>03: REDOX ADAPTATION</a:t>
            </a:r>
            <a:endParaRPr lang="en-US" altLang="en-US" sz="2400" b="1">
              <a:latin typeface="Roboto" panose="02000000000000000000" charset="0"/>
              <a:cs typeface="Roboto" panose="02000000000000000000" charset="0"/>
            </a:endParaRPr>
          </a:p>
          <a:p>
            <a:endParaRPr lang="en-US" altLang="en-US" sz="2000">
              <a:latin typeface="Roboto" panose="02000000000000000000" charset="0"/>
              <a:cs typeface="Roboto" panose="02000000000000000000" charset="0"/>
            </a:endParaRPr>
          </a:p>
          <a:p>
            <a:r>
              <a:rPr lang="en-US" altLang="en-US" sz="2000">
                <a:latin typeface="Roboto" panose="02000000000000000000" charset="0"/>
                <a:cs typeface="Roboto" panose="02000000000000000000" charset="0"/>
              </a:rPr>
              <a:t>Enhanced ROS-buffering capacity can protect cancer cells from oxidative damage.</a:t>
            </a:r>
            <a:endParaRPr lang="en-US" sz="2000">
              <a:latin typeface="Roboto" panose="02000000000000000000" charset="0"/>
              <a:cs typeface="Roboto" panose="02000000000000000000" charset="0"/>
            </a:endParaRPr>
          </a:p>
        </p:txBody>
      </p:sp>
      <p:sp>
        <p:nvSpPr>
          <p:cNvPr id="9" name="Flowchart: Alternate Process 8"/>
          <p:cNvSpPr/>
          <p:nvPr/>
        </p:nvSpPr>
        <p:spPr>
          <a:xfrm>
            <a:off x="699135" y="17496155"/>
            <a:ext cx="4746625" cy="4525010"/>
          </a:xfrm>
          <a:prstGeom prst="flowChartAlternateProcess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en-US"/>
          </a:p>
        </p:txBody>
      </p:sp>
      <p:sp>
        <p:nvSpPr>
          <p:cNvPr id="15" name="Flowchart: Alternate Process 14"/>
          <p:cNvSpPr/>
          <p:nvPr/>
        </p:nvSpPr>
        <p:spPr>
          <a:xfrm>
            <a:off x="5445760" y="17558385"/>
            <a:ext cx="4660900" cy="4462780"/>
          </a:xfrm>
          <a:prstGeom prst="flowChartAlternateProcess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en-US"/>
          </a:p>
        </p:txBody>
      </p:sp>
      <p:sp>
        <p:nvSpPr>
          <p:cNvPr id="22" name="Flowchart: Terminator 21"/>
          <p:cNvSpPr/>
          <p:nvPr/>
        </p:nvSpPr>
        <p:spPr>
          <a:xfrm>
            <a:off x="835025" y="17138015"/>
            <a:ext cx="8884285" cy="542290"/>
          </a:xfrm>
          <a:prstGeom prst="flowChartTerminator">
            <a:avLst/>
          </a:prstGeom>
          <a:solidFill>
            <a:schemeClr val="bg1"/>
          </a:solidFill>
          <a:ln w="952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en-US"/>
          </a:p>
        </p:txBody>
      </p:sp>
      <p:sp>
        <p:nvSpPr>
          <p:cNvPr id="24" name="Text Box 23"/>
          <p:cNvSpPr txBox="1"/>
          <p:nvPr/>
        </p:nvSpPr>
        <p:spPr>
          <a:xfrm>
            <a:off x="1348105" y="17222470"/>
            <a:ext cx="9817735" cy="3244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sz="2000" b="1">
                <a:latin typeface="Roboto" panose="02000000000000000000" charset="0"/>
                <a:cs typeface="Roboto" panose="02000000000000000000" charset="0"/>
              </a:rPr>
              <a:t> </a:t>
            </a:r>
            <a:r>
              <a:rPr lang="en-US" altLang="en-US" sz="2000" b="1">
                <a:latin typeface="Roboto" panose="02000000000000000000" charset="0"/>
                <a:cs typeface="Roboto" panose="02000000000000000000" charset="0"/>
              </a:rPr>
              <a:t>FROM “UN-TARGETABLE” DRIVER →</a:t>
            </a:r>
            <a:r>
              <a:rPr lang="en-US" altLang="en-US" sz="2000" b="1">
                <a:solidFill>
                  <a:schemeClr val="tx1">
                    <a:lumMod val="95000"/>
                    <a:lumOff val="5000"/>
                  </a:schemeClr>
                </a:solidFill>
                <a:latin typeface="Roboto" panose="02000000000000000000" charset="0"/>
                <a:cs typeface="Roboto" panose="02000000000000000000" charset="0"/>
              </a:rPr>
              <a:t> TARGETABLE VULNERABILITY</a:t>
            </a:r>
            <a:endParaRPr lang="en-US" altLang="en-US" sz="2000" b="1">
              <a:solidFill>
                <a:schemeClr val="tx1">
                  <a:lumMod val="95000"/>
                  <a:lumOff val="5000"/>
                </a:schemeClr>
              </a:solidFill>
              <a:latin typeface="Roboto" panose="02000000000000000000" charset="0"/>
              <a:cs typeface="Roboto" panose="02000000000000000000" charset="0"/>
            </a:endParaRPr>
          </a:p>
        </p:txBody>
      </p:sp>
      <p:sp>
        <p:nvSpPr>
          <p:cNvPr id="27" name="Flowchart: Process 26"/>
          <p:cNvSpPr/>
          <p:nvPr/>
        </p:nvSpPr>
        <p:spPr>
          <a:xfrm>
            <a:off x="5359400" y="17680305"/>
            <a:ext cx="4747260" cy="395605"/>
          </a:xfrm>
          <a:prstGeom prst="flowChartProcess">
            <a:avLst/>
          </a:prstGeom>
          <a:solidFill>
            <a:schemeClr val="accent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en-US"/>
          </a:p>
        </p:txBody>
      </p:sp>
      <p:sp>
        <p:nvSpPr>
          <p:cNvPr id="28" name="Right Arrow 27"/>
          <p:cNvSpPr/>
          <p:nvPr/>
        </p:nvSpPr>
        <p:spPr>
          <a:xfrm>
            <a:off x="704215" y="17496155"/>
            <a:ext cx="4984115" cy="817880"/>
          </a:xfrm>
          <a:prstGeom prst="rightArrow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en-US"/>
          </a:p>
        </p:txBody>
      </p:sp>
      <p:sp>
        <p:nvSpPr>
          <p:cNvPr id="31" name="Text Box 30"/>
          <p:cNvSpPr txBox="1"/>
          <p:nvPr/>
        </p:nvSpPr>
        <p:spPr>
          <a:xfrm>
            <a:off x="3326765" y="19548475"/>
            <a:ext cx="21189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/>
          </a:p>
        </p:txBody>
      </p:sp>
      <p:sp>
        <p:nvSpPr>
          <p:cNvPr id="69" name="Text Box 68"/>
          <p:cNvSpPr txBox="1"/>
          <p:nvPr/>
        </p:nvSpPr>
        <p:spPr>
          <a:xfrm>
            <a:off x="1063625" y="17745710"/>
            <a:ext cx="4145280" cy="4552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sz="1600" b="1">
                <a:solidFill>
                  <a:schemeClr val="bg1"/>
                </a:solidFill>
                <a:latin typeface="Roboto" panose="02000000000000000000" charset="0"/>
                <a:cs typeface="Roboto" panose="02000000000000000000" charset="0"/>
              </a:rPr>
              <a:t>TRADITIONAL THARAPUTIC APPROACH</a:t>
            </a:r>
            <a:endParaRPr lang="en-US" sz="1600" b="1">
              <a:solidFill>
                <a:schemeClr val="bg1"/>
              </a:solidFill>
              <a:latin typeface="Roboto" panose="02000000000000000000" charset="0"/>
              <a:cs typeface="Roboto" panose="02000000000000000000" charset="0"/>
            </a:endParaRPr>
          </a:p>
        </p:txBody>
      </p:sp>
      <p:sp>
        <p:nvSpPr>
          <p:cNvPr id="86" name="Text Box 85"/>
          <p:cNvSpPr txBox="1"/>
          <p:nvPr/>
        </p:nvSpPr>
        <p:spPr>
          <a:xfrm>
            <a:off x="5633720" y="17720310"/>
            <a:ext cx="5156200" cy="3556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sz="1600" b="1">
                <a:solidFill>
                  <a:schemeClr val="bg1"/>
                </a:solidFill>
                <a:latin typeface="Roboto" panose="02000000000000000000" charset="0"/>
                <a:cs typeface="Roboto" panose="02000000000000000000" charset="0"/>
              </a:rPr>
              <a:t>FERROPTOSIS VULNERABILITY FREAMEWORK</a:t>
            </a:r>
            <a:endParaRPr lang="en-US" sz="1600" b="1">
              <a:solidFill>
                <a:schemeClr val="bg1"/>
              </a:solidFill>
              <a:latin typeface="Roboto" panose="02000000000000000000" charset="0"/>
              <a:cs typeface="Roboto" panose="02000000000000000000" charset="0"/>
            </a:endParaRPr>
          </a:p>
        </p:txBody>
      </p:sp>
      <p:pic>
        <p:nvPicPr>
          <p:cNvPr id="101" name="Picture 100" descr="Screenshot_2026-09-09_185951-Picsart-AiImageEnhancer-removebg-preview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93890" y="18616930"/>
            <a:ext cx="3238500" cy="2393315"/>
          </a:xfrm>
          <a:prstGeom prst="rect">
            <a:avLst/>
          </a:prstGeom>
        </p:spPr>
      </p:pic>
      <p:pic>
        <p:nvPicPr>
          <p:cNvPr id="279" name="Picture 278" descr="Screenshot_2026-09-09_190600-Photoroom-Picsart-AiImageEnhancer-removebg-preview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76220" y="18792825"/>
            <a:ext cx="2694940" cy="2483485"/>
          </a:xfrm>
          <a:prstGeom prst="rect">
            <a:avLst/>
          </a:prstGeom>
        </p:spPr>
      </p:pic>
      <p:sp>
        <p:nvSpPr>
          <p:cNvPr id="280" name="Text Box 279"/>
          <p:cNvSpPr txBox="1"/>
          <p:nvPr/>
        </p:nvSpPr>
        <p:spPr>
          <a:xfrm>
            <a:off x="1063625" y="18603595"/>
            <a:ext cx="2232660" cy="29248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>
                <a:solidFill>
                  <a:schemeClr val="tx2">
                    <a:lumMod val="75000"/>
                  </a:schemeClr>
                </a:solidFill>
                <a:latin typeface="Roboto" panose="02000000000000000000" charset="0"/>
                <a:cs typeface="Roboto" panose="02000000000000000000" charset="0"/>
              </a:rPr>
              <a:t>Often centered on</a:t>
            </a:r>
            <a:endParaRPr lang="en-US" altLang="en-US">
              <a:solidFill>
                <a:schemeClr val="tx2">
                  <a:lumMod val="75000"/>
                </a:schemeClr>
              </a:solidFill>
              <a:latin typeface="Roboto" panose="02000000000000000000" charset="0"/>
              <a:cs typeface="Roboto" panose="02000000000000000000" charset="0"/>
            </a:endParaRPr>
          </a:p>
          <a:p>
            <a:r>
              <a:rPr lang="en-US" altLang="en-US">
                <a:solidFill>
                  <a:schemeClr val="tx2">
                    <a:lumMod val="75000"/>
                  </a:schemeClr>
                </a:solidFill>
                <a:latin typeface="Roboto" panose="02000000000000000000" charset="0"/>
                <a:cs typeface="Roboto" panose="02000000000000000000" charset="0"/>
              </a:rPr>
              <a:t>a specific driver</a:t>
            </a:r>
            <a:endParaRPr lang="en-US" altLang="en-US">
              <a:solidFill>
                <a:schemeClr val="tx2">
                  <a:lumMod val="75000"/>
                </a:schemeClr>
              </a:solidFill>
              <a:latin typeface="Roboto" panose="02000000000000000000" charset="0"/>
              <a:cs typeface="Roboto" panose="02000000000000000000" charset="0"/>
            </a:endParaRPr>
          </a:p>
          <a:p>
            <a:endParaRPr lang="en-US" altLang="en-US">
              <a:solidFill>
                <a:schemeClr val="tx2">
                  <a:lumMod val="75000"/>
                </a:schemeClr>
              </a:solidFill>
              <a:latin typeface="Roboto" panose="02000000000000000000" charset="0"/>
              <a:cs typeface="Roboto" panose="02000000000000000000" charset="0"/>
            </a:endParaRPr>
          </a:p>
          <a:p>
            <a:r>
              <a:rPr lang="en-US" altLang="en-US">
                <a:solidFill>
                  <a:schemeClr val="tx2">
                    <a:lumMod val="75000"/>
                  </a:schemeClr>
                </a:solidFill>
                <a:latin typeface="Roboto" panose="02000000000000000000" charset="0"/>
                <a:cs typeface="Roboto" panose="02000000000000000000" charset="0"/>
              </a:rPr>
              <a:t>Focuses on signaling</a:t>
            </a:r>
            <a:endParaRPr lang="en-US" altLang="en-US">
              <a:solidFill>
                <a:schemeClr val="tx2">
                  <a:lumMod val="75000"/>
                </a:schemeClr>
              </a:solidFill>
              <a:latin typeface="Roboto" panose="02000000000000000000" charset="0"/>
              <a:cs typeface="Roboto" panose="02000000000000000000" charset="0"/>
            </a:endParaRPr>
          </a:p>
          <a:p>
            <a:endParaRPr lang="en-US" altLang="en-US">
              <a:solidFill>
                <a:schemeClr val="tx2">
                  <a:lumMod val="75000"/>
                </a:schemeClr>
              </a:solidFill>
              <a:latin typeface="Roboto" panose="02000000000000000000" charset="0"/>
              <a:cs typeface="Roboto" panose="02000000000000000000" charset="0"/>
            </a:endParaRPr>
          </a:p>
          <a:p>
            <a:r>
              <a:rPr lang="en-US" altLang="en-US">
                <a:solidFill>
                  <a:schemeClr val="tx2">
                    <a:lumMod val="75000"/>
                  </a:schemeClr>
                </a:solidFill>
                <a:latin typeface="Roboto" panose="02000000000000000000" charset="0"/>
                <a:cs typeface="Roboto" panose="02000000000000000000" charset="0"/>
              </a:rPr>
              <a:t>Requires persistent target dependence</a:t>
            </a:r>
            <a:endParaRPr lang="en-US" altLang="en-US">
              <a:solidFill>
                <a:schemeClr val="tx2">
                  <a:lumMod val="75000"/>
                </a:schemeClr>
              </a:solidFill>
              <a:latin typeface="Roboto" panose="02000000000000000000" charset="0"/>
              <a:cs typeface="Roboto" panose="02000000000000000000" charset="0"/>
            </a:endParaRPr>
          </a:p>
        </p:txBody>
      </p:sp>
      <p:sp>
        <p:nvSpPr>
          <p:cNvPr id="301" name="Diamond 300"/>
          <p:cNvSpPr/>
          <p:nvPr/>
        </p:nvSpPr>
        <p:spPr>
          <a:xfrm>
            <a:off x="955675" y="18860135"/>
            <a:ext cx="107950" cy="75565"/>
          </a:xfrm>
          <a:prstGeom prst="diamond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en-US"/>
          </a:p>
        </p:txBody>
      </p:sp>
      <p:sp>
        <p:nvSpPr>
          <p:cNvPr id="302" name="Diamond 301"/>
          <p:cNvSpPr/>
          <p:nvPr/>
        </p:nvSpPr>
        <p:spPr>
          <a:xfrm>
            <a:off x="955675" y="20483830"/>
            <a:ext cx="107950" cy="75565"/>
          </a:xfrm>
          <a:prstGeom prst="diamond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en-US"/>
          </a:p>
        </p:txBody>
      </p:sp>
      <p:sp>
        <p:nvSpPr>
          <p:cNvPr id="303" name="Diamond 302"/>
          <p:cNvSpPr/>
          <p:nvPr/>
        </p:nvSpPr>
        <p:spPr>
          <a:xfrm>
            <a:off x="955675" y="19584035"/>
            <a:ext cx="107950" cy="75565"/>
          </a:xfrm>
          <a:prstGeom prst="diamond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en-US"/>
          </a:p>
        </p:txBody>
      </p:sp>
      <p:sp>
        <p:nvSpPr>
          <p:cNvPr id="333" name="Diamond 332"/>
          <p:cNvSpPr/>
          <p:nvPr/>
        </p:nvSpPr>
        <p:spPr>
          <a:xfrm>
            <a:off x="5580380" y="19810730"/>
            <a:ext cx="107950" cy="75565"/>
          </a:xfrm>
          <a:prstGeom prst="diamond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en-US"/>
          </a:p>
        </p:txBody>
      </p:sp>
      <p:sp>
        <p:nvSpPr>
          <p:cNvPr id="335" name="Diamond 334"/>
          <p:cNvSpPr/>
          <p:nvPr/>
        </p:nvSpPr>
        <p:spPr>
          <a:xfrm>
            <a:off x="5580380" y="21165820"/>
            <a:ext cx="107950" cy="75565"/>
          </a:xfrm>
          <a:prstGeom prst="diamond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en-US"/>
          </a:p>
        </p:txBody>
      </p:sp>
      <p:sp>
        <p:nvSpPr>
          <p:cNvPr id="336" name="Diamond 335"/>
          <p:cNvSpPr/>
          <p:nvPr/>
        </p:nvSpPr>
        <p:spPr>
          <a:xfrm>
            <a:off x="5580380" y="18678525"/>
            <a:ext cx="107950" cy="75565"/>
          </a:xfrm>
          <a:prstGeom prst="diamond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en-US"/>
          </a:p>
        </p:txBody>
      </p:sp>
      <p:sp>
        <p:nvSpPr>
          <p:cNvPr id="339" name="Text Box 338"/>
          <p:cNvSpPr txBox="1"/>
          <p:nvPr/>
        </p:nvSpPr>
        <p:spPr>
          <a:xfrm>
            <a:off x="5688330" y="18503900"/>
            <a:ext cx="1877060" cy="40982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>
                <a:solidFill>
                  <a:schemeClr val="tx2">
                    <a:lumMod val="75000"/>
                  </a:schemeClr>
                </a:solidFill>
                <a:latin typeface="Roboto" panose="02000000000000000000" charset="0"/>
                <a:cs typeface="Roboto" panose="02000000000000000000" charset="0"/>
              </a:rPr>
              <a:t>Exploits iron/redox/lipid dependencies</a:t>
            </a:r>
            <a:endParaRPr lang="en-US" altLang="en-US">
              <a:solidFill>
                <a:schemeClr val="tx2">
                  <a:lumMod val="75000"/>
                </a:schemeClr>
              </a:solidFill>
              <a:latin typeface="Roboto" panose="02000000000000000000" charset="0"/>
              <a:cs typeface="Roboto" panose="02000000000000000000" charset="0"/>
            </a:endParaRPr>
          </a:p>
          <a:p>
            <a:endParaRPr lang="en-US" altLang="en-US">
              <a:solidFill>
                <a:schemeClr val="tx2">
                  <a:lumMod val="75000"/>
                </a:schemeClr>
              </a:solidFill>
              <a:latin typeface="Roboto" panose="02000000000000000000" charset="0"/>
              <a:cs typeface="Roboto" panose="02000000000000000000" charset="0"/>
            </a:endParaRPr>
          </a:p>
          <a:p>
            <a:r>
              <a:rPr lang="en-US" altLang="en-US">
                <a:solidFill>
                  <a:schemeClr val="tx2">
                    <a:lumMod val="75000"/>
                  </a:schemeClr>
                </a:solidFill>
                <a:latin typeface="Roboto" panose="02000000000000000000" charset="0"/>
                <a:cs typeface="Roboto" panose="02000000000000000000" charset="0"/>
              </a:rPr>
              <a:t>Focuses on membrane redox homeostasis</a:t>
            </a:r>
            <a:endParaRPr lang="en-US" altLang="en-US">
              <a:solidFill>
                <a:schemeClr val="tx2">
                  <a:lumMod val="75000"/>
                </a:schemeClr>
              </a:solidFill>
              <a:latin typeface="Roboto" panose="02000000000000000000" charset="0"/>
              <a:cs typeface="Roboto" panose="02000000000000000000" charset="0"/>
            </a:endParaRPr>
          </a:p>
          <a:p>
            <a:endParaRPr lang="en-US" altLang="en-US">
              <a:solidFill>
                <a:schemeClr val="tx2">
                  <a:lumMod val="75000"/>
                </a:schemeClr>
              </a:solidFill>
              <a:latin typeface="Roboto" panose="02000000000000000000" charset="0"/>
              <a:cs typeface="Roboto" panose="02000000000000000000" charset="0"/>
            </a:endParaRPr>
          </a:p>
          <a:p>
            <a:r>
              <a:rPr lang="en-US" altLang="en-US">
                <a:solidFill>
                  <a:schemeClr val="tx2">
                    <a:lumMod val="75000"/>
                  </a:schemeClr>
                </a:solidFill>
                <a:latin typeface="Roboto" panose="02000000000000000000" charset="0"/>
                <a:cs typeface="Roboto" panose="02000000000000000000" charset="0"/>
              </a:rPr>
              <a:t>Targets cellular metabolic state</a:t>
            </a:r>
            <a:endParaRPr lang="en-US" altLang="en-US">
              <a:solidFill>
                <a:schemeClr val="tx2">
                  <a:lumMod val="75000"/>
                </a:schemeClr>
              </a:solidFill>
              <a:latin typeface="Roboto" panose="02000000000000000000" charset="0"/>
              <a:cs typeface="Roboto" panose="02000000000000000000" charset="0"/>
            </a:endParaRPr>
          </a:p>
        </p:txBody>
      </p:sp>
      <p:pic>
        <p:nvPicPr>
          <p:cNvPr id="357" name="Picture 356" descr="pathway (1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81970" y="9707880"/>
            <a:ext cx="9733915" cy="10412730"/>
          </a:xfrm>
          <a:prstGeom prst="rect">
            <a:avLst/>
          </a:prstGeom>
        </p:spPr>
      </p:pic>
      <p:sp>
        <p:nvSpPr>
          <p:cNvPr id="358" name="Text Box 357"/>
          <p:cNvSpPr txBox="1"/>
          <p:nvPr/>
        </p:nvSpPr>
        <p:spPr>
          <a:xfrm>
            <a:off x="15564485" y="20797520"/>
            <a:ext cx="4525645" cy="368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lumMod val="50000"/>
                  </a:schemeClr>
                </a:solidFill>
              </a14:hiddenFill>
            </a:ext>
          </a:extLst>
        </p:spPr>
        <p:txBody>
          <a:bodyPr wrap="square" rtlCol="0">
            <a:spAutoFit/>
          </a:bodyPr>
          <a:p>
            <a:r>
              <a:rPr lang="en-US" altLang="en-US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charset="0"/>
                <a:cs typeface="Roboto" panose="02000000000000000000" charset="0"/>
              </a:rPr>
              <a:t>[Literature-derived mechanistic synthesis]</a:t>
            </a:r>
            <a:endParaRPr lang="en-US" altLang="en-US">
              <a:solidFill>
                <a:schemeClr val="tx1">
                  <a:lumMod val="65000"/>
                  <a:lumOff val="35000"/>
                </a:schemeClr>
              </a:solidFill>
              <a:latin typeface="Roboto" panose="02000000000000000000" charset="0"/>
              <a:cs typeface="Roboto" panose="02000000000000000000" charset="0"/>
            </a:endParaRPr>
          </a:p>
        </p:txBody>
      </p:sp>
      <p:sp>
        <p:nvSpPr>
          <p:cNvPr id="8" name="Oval 7"/>
          <p:cNvSpPr/>
          <p:nvPr/>
        </p:nvSpPr>
        <p:spPr>
          <a:xfrm>
            <a:off x="12708255" y="10855960"/>
            <a:ext cx="1324610" cy="504190"/>
          </a:xfrm>
          <a:prstGeom prst="ellipse">
            <a:avLst/>
          </a:prstGeom>
          <a:solidFill>
            <a:srgbClr val="FF0000">
              <a:alpha val="40000"/>
            </a:srgbClr>
          </a:solidFill>
          <a:ln w="12700" cmpd="sng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en-US"/>
          </a:p>
        </p:txBody>
      </p:sp>
      <p:sp>
        <p:nvSpPr>
          <p:cNvPr id="20" name="Rounded Rectangle 19"/>
          <p:cNvSpPr/>
          <p:nvPr/>
        </p:nvSpPr>
        <p:spPr>
          <a:xfrm>
            <a:off x="10656570" y="21683345"/>
            <a:ext cx="9991725" cy="744220"/>
          </a:xfrm>
          <a:prstGeom prst="roundRect">
            <a:avLst/>
          </a:prstGeom>
          <a:solidFill>
            <a:schemeClr val="tx2">
              <a:lumMod val="75000"/>
            </a:schemeClr>
          </a:solidFill>
          <a:ln>
            <a:solidFill>
              <a:schemeClr val="accent1">
                <a:lumMod val="75000"/>
                <a:alpha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69"/>
          <p:cNvSpPr txBox="1"/>
          <p:nvPr/>
        </p:nvSpPr>
        <p:spPr>
          <a:xfrm>
            <a:off x="12234545" y="21683345"/>
            <a:ext cx="6479540" cy="664210"/>
          </a:xfrm>
          <a:prstGeom prst="rect">
            <a:avLst/>
          </a:prstGeom>
          <a:noFill/>
        </p:spPr>
        <p:txBody>
          <a:bodyPr wrap="square" lIns="72000" tIns="72000" rIns="72000" bIns="72000" anchor="t">
            <a:noAutofit/>
          </a:bodyPr>
          <a:lstStyle/>
          <a:p>
            <a:pPr algn="l"/>
            <a:r>
              <a:rPr lang="en-US" sz="3600" b="1">
                <a:solidFill>
                  <a:srgbClr val="FFFFFF"/>
                </a:solidFill>
                <a:latin typeface="Aptos"/>
              </a:rPr>
              <a:t> 5. </a:t>
            </a:r>
            <a:r>
              <a:rPr sz="3600" b="1">
                <a:solidFill>
                  <a:srgbClr val="FFFFFF"/>
                </a:solidFill>
                <a:latin typeface="Aptos"/>
              </a:rPr>
              <a:t>WHERE CAN WE TARGET</a:t>
            </a:r>
            <a:r>
              <a:rPr lang="en-US" sz="3600" b="1">
                <a:solidFill>
                  <a:srgbClr val="FFFFFF"/>
                </a:solidFill>
                <a:latin typeface="Aptos"/>
              </a:rPr>
              <a:t> </a:t>
            </a:r>
            <a:r>
              <a:rPr sz="3600" b="1">
                <a:solidFill>
                  <a:srgbClr val="FFFFFF"/>
                </a:solidFill>
                <a:latin typeface="Aptos"/>
              </a:rPr>
              <a:t>?</a:t>
            </a:r>
            <a:endParaRPr sz="36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21149310" y="8934450"/>
            <a:ext cx="8496935" cy="19765645"/>
          </a:xfrm>
          <a:prstGeom prst="roundRect">
            <a:avLst/>
          </a:prstGeom>
          <a:solidFill>
            <a:srgbClr val="FFFFFF"/>
          </a:solidFill>
          <a:ln w="952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Flowchart: Alternate Process 36"/>
          <p:cNvSpPr/>
          <p:nvPr/>
        </p:nvSpPr>
        <p:spPr>
          <a:xfrm>
            <a:off x="1078230" y="23399750"/>
            <a:ext cx="8639810" cy="1511935"/>
          </a:xfrm>
          <a:prstGeom prst="flowChartAlternateProcess">
            <a:avLst/>
          </a:prstGeom>
          <a:solidFill>
            <a:schemeClr val="bg2"/>
          </a:solidFill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en-US"/>
          </a:p>
        </p:txBody>
      </p:sp>
      <p:sp>
        <p:nvSpPr>
          <p:cNvPr id="38" name="Flowchart: Alternate Process 37"/>
          <p:cNvSpPr/>
          <p:nvPr/>
        </p:nvSpPr>
        <p:spPr>
          <a:xfrm>
            <a:off x="1059180" y="25055830"/>
            <a:ext cx="8639810" cy="1511935"/>
          </a:xfrm>
          <a:prstGeom prst="flowChartAlternateProcess">
            <a:avLst/>
          </a:prstGeom>
          <a:solidFill>
            <a:schemeClr val="bg2"/>
          </a:solidFill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en-US"/>
          </a:p>
        </p:txBody>
      </p:sp>
      <p:sp>
        <p:nvSpPr>
          <p:cNvPr id="39" name="Flowchart: Alternate Process 38"/>
          <p:cNvSpPr/>
          <p:nvPr/>
        </p:nvSpPr>
        <p:spPr>
          <a:xfrm>
            <a:off x="1090930" y="26748105"/>
            <a:ext cx="8639810" cy="1511935"/>
          </a:xfrm>
          <a:prstGeom prst="flowChartAlternateProcess">
            <a:avLst/>
          </a:prstGeom>
          <a:solidFill>
            <a:schemeClr val="bg2"/>
          </a:solidFill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en-US"/>
          </a:p>
        </p:txBody>
      </p:sp>
      <p:sp>
        <p:nvSpPr>
          <p:cNvPr id="40" name="Oval 39"/>
          <p:cNvSpPr/>
          <p:nvPr/>
        </p:nvSpPr>
        <p:spPr>
          <a:xfrm>
            <a:off x="1342390" y="23724235"/>
            <a:ext cx="914400" cy="914400"/>
          </a:xfrm>
          <a:prstGeom prst="ellipse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en-US"/>
          </a:p>
        </p:txBody>
      </p:sp>
      <p:sp>
        <p:nvSpPr>
          <p:cNvPr id="41" name="Oval 40"/>
          <p:cNvSpPr/>
          <p:nvPr/>
        </p:nvSpPr>
        <p:spPr>
          <a:xfrm>
            <a:off x="1399540" y="26985595"/>
            <a:ext cx="914400" cy="914400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en-US"/>
          </a:p>
        </p:txBody>
      </p:sp>
      <p:sp>
        <p:nvSpPr>
          <p:cNvPr id="42" name="Oval 41"/>
          <p:cNvSpPr/>
          <p:nvPr/>
        </p:nvSpPr>
        <p:spPr>
          <a:xfrm>
            <a:off x="1342390" y="25293320"/>
            <a:ext cx="914400" cy="9144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en-US"/>
          </a:p>
        </p:txBody>
      </p:sp>
      <p:sp>
        <p:nvSpPr>
          <p:cNvPr id="44" name="Text Box 43"/>
          <p:cNvSpPr txBox="1"/>
          <p:nvPr/>
        </p:nvSpPr>
        <p:spPr>
          <a:xfrm>
            <a:off x="1527810" y="23886160"/>
            <a:ext cx="58166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800" b="1">
                <a:solidFill>
                  <a:schemeClr val="bg1"/>
                </a:solidFill>
                <a:latin typeface="Roboto" panose="02000000000000000000" charset="0"/>
                <a:cs typeface="Roboto" panose="02000000000000000000" charset="0"/>
              </a:rPr>
              <a:t>Fe</a:t>
            </a:r>
            <a:endParaRPr lang="en-US" sz="2800" b="1">
              <a:solidFill>
                <a:schemeClr val="bg1"/>
              </a:solidFill>
              <a:latin typeface="Roboto" panose="02000000000000000000" charset="0"/>
              <a:cs typeface="Roboto" panose="02000000000000000000" charset="0"/>
            </a:endParaRPr>
          </a:p>
        </p:txBody>
      </p:sp>
      <p:cxnSp>
        <p:nvCxnSpPr>
          <p:cNvPr id="47" name="Straight Connector 46"/>
          <p:cNvCxnSpPr/>
          <p:nvPr/>
        </p:nvCxnSpPr>
        <p:spPr>
          <a:xfrm flipH="1">
            <a:off x="1508760" y="25667335"/>
            <a:ext cx="506730" cy="252730"/>
          </a:xfrm>
          <a:prstGeom prst="line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9" name="Hollow Circle 48"/>
          <p:cNvSpPr/>
          <p:nvPr/>
        </p:nvSpPr>
        <p:spPr>
          <a:xfrm>
            <a:off x="1546860" y="25757505"/>
            <a:ext cx="144145" cy="212090"/>
          </a:xfrm>
          <a:prstGeom prst="donu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50" name="Hollow Circle 49"/>
          <p:cNvSpPr/>
          <p:nvPr/>
        </p:nvSpPr>
        <p:spPr>
          <a:xfrm>
            <a:off x="1866900" y="25545415"/>
            <a:ext cx="144145" cy="212090"/>
          </a:xfrm>
          <a:prstGeom prst="donu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51" name="4-Point Star 50"/>
          <p:cNvSpPr/>
          <p:nvPr/>
        </p:nvSpPr>
        <p:spPr>
          <a:xfrm>
            <a:off x="1547495" y="27251025"/>
            <a:ext cx="506095" cy="433070"/>
          </a:xfrm>
          <a:prstGeom prst="star4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en-US"/>
          </a:p>
        </p:txBody>
      </p:sp>
      <p:sp>
        <p:nvSpPr>
          <p:cNvPr id="52" name="Text Box 51"/>
          <p:cNvSpPr txBox="1"/>
          <p:nvPr/>
        </p:nvSpPr>
        <p:spPr>
          <a:xfrm>
            <a:off x="2581275" y="23732490"/>
            <a:ext cx="7308215" cy="8915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600" b="1">
                <a:solidFill>
                  <a:schemeClr val="accent6"/>
                </a:solidFill>
              </a:rPr>
              <a:t>IRON</a:t>
            </a:r>
            <a:r>
              <a:rPr lang="en-US" sz="2600"/>
              <a:t> </a:t>
            </a:r>
            <a:endParaRPr lang="en-US" sz="2600"/>
          </a:p>
          <a:p>
            <a:r>
              <a:rPr lang="en-US" sz="2600"/>
              <a:t>Iron availability contributes to oxidative presuuure.</a:t>
            </a:r>
            <a:endParaRPr lang="en-US" sz="2600"/>
          </a:p>
        </p:txBody>
      </p:sp>
      <p:sp>
        <p:nvSpPr>
          <p:cNvPr id="54" name="Text Box 53"/>
          <p:cNvSpPr txBox="1"/>
          <p:nvPr/>
        </p:nvSpPr>
        <p:spPr>
          <a:xfrm>
            <a:off x="2600325" y="25163780"/>
            <a:ext cx="7308215" cy="1291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600" b="1">
                <a:solidFill>
                  <a:schemeClr val="accent6"/>
                </a:solidFill>
              </a:rPr>
              <a:t>LIPIDS</a:t>
            </a:r>
            <a:r>
              <a:rPr lang="en-US" sz="2600"/>
              <a:t> </a:t>
            </a:r>
            <a:endParaRPr lang="en-US" sz="2600"/>
          </a:p>
          <a:p>
            <a:r>
              <a:rPr lang="en-US" sz="2600"/>
              <a:t>PUFA containing phospholipids influence peroxidation susceptibility..</a:t>
            </a:r>
            <a:endParaRPr lang="en-US" sz="2600"/>
          </a:p>
        </p:txBody>
      </p:sp>
      <p:sp>
        <p:nvSpPr>
          <p:cNvPr id="55" name="Text Box 54"/>
          <p:cNvSpPr txBox="1"/>
          <p:nvPr/>
        </p:nvSpPr>
        <p:spPr>
          <a:xfrm>
            <a:off x="2619375" y="26964005"/>
            <a:ext cx="7308215" cy="1291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600" b="1">
                <a:solidFill>
                  <a:schemeClr val="accent6"/>
                </a:solidFill>
              </a:rPr>
              <a:t>ANTIOXIDANT DEFENSE</a:t>
            </a:r>
            <a:r>
              <a:rPr lang="en-US" sz="2600"/>
              <a:t> </a:t>
            </a:r>
            <a:endParaRPr lang="en-US" sz="2600"/>
          </a:p>
          <a:p>
            <a:r>
              <a:rPr lang="en-US" sz="2600"/>
              <a:t>GPX4 and alternative defense pathways regulate ferroptotic sensitivity.</a:t>
            </a:r>
            <a:endParaRPr lang="en-US" sz="2600"/>
          </a:p>
        </p:txBody>
      </p:sp>
      <p:sp>
        <p:nvSpPr>
          <p:cNvPr id="56" name="Hexagon 55"/>
          <p:cNvSpPr/>
          <p:nvPr/>
        </p:nvSpPr>
        <p:spPr>
          <a:xfrm>
            <a:off x="14965045" y="24787225"/>
            <a:ext cx="1586865" cy="1888490"/>
          </a:xfrm>
          <a:prstGeom prst="hexagon">
            <a:avLst/>
          </a:prstGeom>
          <a:solidFill>
            <a:schemeClr val="accent2"/>
          </a:solidFill>
          <a:ln>
            <a:solidFill>
              <a:schemeClr val="bg1"/>
            </a:solidFill>
          </a:ln>
          <a:effectLst>
            <a:outerShdw blurRad="40000" dist="23000" dir="5400000" rotWithShape="0">
              <a:srgbClr val="000000">
                <a:alpha val="35000"/>
              </a:srgbClr>
            </a:outerShdw>
            <a:softEdge rad="25400"/>
          </a:effectLst>
          <a:scene3d>
            <a:camera prst="orthographicFront">
              <a:rot lat="21593999" lon="21593999" rev="5400000"/>
            </a:camera>
            <a:lightRig rig="threePt" dir="t"/>
          </a:scene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en-US"/>
          </a:p>
        </p:txBody>
      </p:sp>
      <p:sp>
        <p:nvSpPr>
          <p:cNvPr id="57" name="Text Box 56"/>
          <p:cNvSpPr txBox="1"/>
          <p:nvPr/>
        </p:nvSpPr>
        <p:spPr>
          <a:xfrm>
            <a:off x="14839950" y="25452070"/>
            <a:ext cx="2567305" cy="6965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sz="2000" b="1">
                <a:solidFill>
                  <a:schemeClr val="bg1"/>
                </a:solidFill>
                <a:latin typeface="Roboto" panose="02000000000000000000" charset="0"/>
                <a:cs typeface="Roboto" panose="02000000000000000000" charset="0"/>
              </a:rPr>
              <a:t>FERROPTOSIS</a:t>
            </a:r>
            <a:endParaRPr lang="en-US" sz="2000" b="1">
              <a:solidFill>
                <a:schemeClr val="bg1"/>
              </a:solidFill>
              <a:latin typeface="Roboto" panose="02000000000000000000" charset="0"/>
              <a:cs typeface="Roboto" panose="02000000000000000000" charset="0"/>
            </a:endParaRPr>
          </a:p>
        </p:txBody>
      </p:sp>
      <p:pic>
        <p:nvPicPr>
          <p:cNvPr id="58" name="Picture 57" descr="1-Picsart-AiImageEnhancer-removebg-preview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71150" y="23265765"/>
            <a:ext cx="4314190" cy="2225040"/>
          </a:xfrm>
          <a:prstGeom prst="rect">
            <a:avLst/>
          </a:prstGeom>
        </p:spPr>
      </p:pic>
      <p:pic>
        <p:nvPicPr>
          <p:cNvPr id="59" name="Picture 58" descr="2-Picsart-AiImageEnhancer-removebg-preview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724630" y="23461345"/>
            <a:ext cx="4290695" cy="1893570"/>
          </a:xfrm>
          <a:prstGeom prst="rect">
            <a:avLst/>
          </a:prstGeom>
        </p:spPr>
      </p:pic>
      <p:pic>
        <p:nvPicPr>
          <p:cNvPr id="60" name="Picture 59" descr="3-Picsart-AiImageEnhancer-removebg-preview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487025" y="26172795"/>
            <a:ext cx="4145280" cy="2227580"/>
          </a:xfrm>
          <a:prstGeom prst="rect">
            <a:avLst/>
          </a:prstGeom>
        </p:spPr>
      </p:pic>
      <p:pic>
        <p:nvPicPr>
          <p:cNvPr id="61" name="Picture 60" descr="4-Picsart-AiImageEnhancer-removebg-preview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6170275" y="26283920"/>
            <a:ext cx="4789170" cy="2192655"/>
          </a:xfrm>
          <a:prstGeom prst="rect">
            <a:avLst/>
          </a:prstGeom>
        </p:spPr>
      </p:pic>
      <p:sp>
        <p:nvSpPr>
          <p:cNvPr id="92" name="Text Box 91"/>
          <p:cNvSpPr txBox="1"/>
          <p:nvPr/>
        </p:nvSpPr>
        <p:spPr>
          <a:xfrm>
            <a:off x="21626195" y="9526905"/>
            <a:ext cx="7282180" cy="4375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en-US" sz="2400" b="1">
                <a:latin typeface="Roboto" panose="02000000000000000000" charset="0"/>
                <a:cs typeface="Roboto" panose="02000000000000000000" charset="0"/>
              </a:rPr>
              <a:t>Ferroptosis-associated transcriptional landscape</a:t>
            </a:r>
            <a:r>
              <a:rPr lang="en-US" altLang="en-US" sz="2000" b="1">
                <a:latin typeface="Roboto" panose="02000000000000000000" charset="0"/>
                <a:cs typeface="Roboto" panose="02000000000000000000" charset="0"/>
              </a:rPr>
              <a:t> </a:t>
            </a:r>
            <a:endParaRPr lang="en-US" altLang="en-US" sz="2000" b="1">
              <a:latin typeface="Roboto" panose="02000000000000000000" charset="0"/>
              <a:cs typeface="Roboto" panose="02000000000000000000" charset="0"/>
            </a:endParaRPr>
          </a:p>
          <a:p>
            <a:r>
              <a:rPr lang="en-US" altLang="en-US"/>
              <a:t> </a:t>
            </a:r>
            <a:endParaRPr lang="en-US" altLang="en-US"/>
          </a:p>
        </p:txBody>
      </p:sp>
      <p:sp>
        <p:nvSpPr>
          <p:cNvPr id="93" name="Text Box 92"/>
          <p:cNvSpPr txBox="1"/>
          <p:nvPr/>
        </p:nvSpPr>
        <p:spPr>
          <a:xfrm>
            <a:off x="21515705" y="10264775"/>
            <a:ext cx="9144000" cy="4330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 sz="1600" b="1">
                <a:solidFill>
                  <a:schemeClr val="accent6">
                    <a:lumMod val="75000"/>
                  </a:schemeClr>
                </a:solidFill>
                <a:latin typeface="Roboto" panose="02000000000000000000" charset="0"/>
                <a:cs typeface="Roboto" panose="02000000000000000000" charset="0"/>
                <a:sym typeface="+mn-ea"/>
              </a:rPr>
              <a:t>GSE182638 </a:t>
            </a:r>
            <a:r>
              <a:rPr lang="en-US" altLang="en-US" sz="1600">
                <a:solidFill>
                  <a:schemeClr val="accent6">
                    <a:lumMod val="75000"/>
                  </a:schemeClr>
                </a:solidFill>
                <a:latin typeface="Roboto" panose="02000000000000000000" charset="0"/>
                <a:cs typeface="Roboto" panose="02000000000000000000" charset="0"/>
                <a:sym typeface="+mn-ea"/>
              </a:rPr>
              <a:t>: MM1R (Glucocorticoid-resistant) vs MM1S (Glucocorticoid-sensitive)</a:t>
            </a:r>
            <a:r>
              <a:rPr lang="en-US" altLang="en-US" sz="1600">
                <a:solidFill>
                  <a:schemeClr val="accent6">
                    <a:lumMod val="75000"/>
                  </a:schemeClr>
                </a:solidFill>
                <a:sym typeface="+mn-ea"/>
              </a:rPr>
              <a:t> </a:t>
            </a:r>
            <a:endParaRPr lang="en-US" altLang="en-US" sz="1600">
              <a:solidFill>
                <a:schemeClr val="accent6">
                  <a:lumMod val="75000"/>
                </a:schemeClr>
              </a:solidFill>
              <a:sym typeface="+mn-ea"/>
            </a:endParaRPr>
          </a:p>
        </p:txBody>
      </p:sp>
      <p:pic>
        <p:nvPicPr>
          <p:cNvPr id="4" name="Picture 3" descr="Figure2_ferroptosis_GSE182638_real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1187410" y="10818495"/>
            <a:ext cx="8270240" cy="8519160"/>
          </a:xfrm>
          <a:prstGeom prst="rect">
            <a:avLst/>
          </a:prstGeom>
        </p:spPr>
      </p:pic>
      <p:pic>
        <p:nvPicPr>
          <p:cNvPr id="13" name="Picture 12" descr="volcano_MM1R_vs_MM1S_untreated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1273770" y="19503390"/>
            <a:ext cx="7990205" cy="7315200"/>
          </a:xfrm>
          <a:prstGeom prst="rect">
            <a:avLst/>
          </a:prstGeom>
        </p:spPr>
      </p:pic>
      <p:cxnSp>
        <p:nvCxnSpPr>
          <p:cNvPr id="29" name="Straight Arrow Connector 28"/>
          <p:cNvCxnSpPr/>
          <p:nvPr/>
        </p:nvCxnSpPr>
        <p:spPr>
          <a:xfrm flipH="1" flipV="1">
            <a:off x="14785340" y="24479885"/>
            <a:ext cx="572770" cy="431800"/>
          </a:xfrm>
          <a:prstGeom prst="straightConnector1">
            <a:avLst/>
          </a:prstGeom>
          <a:ln w="0">
            <a:tailEnd type="arrow" w="med" len="med"/>
          </a:ln>
        </p:spPr>
        <p:style>
          <a:lnRef idx="2">
            <a:schemeClr val="accent2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/>
          <p:nvPr/>
        </p:nvCxnSpPr>
        <p:spPr>
          <a:xfrm>
            <a:off x="16289020" y="26398220"/>
            <a:ext cx="389255" cy="324485"/>
          </a:xfrm>
          <a:prstGeom prst="straightConnector1">
            <a:avLst/>
          </a:prstGeom>
          <a:ln w="0" cmpd="sng">
            <a:solidFill>
              <a:schemeClr val="accent2"/>
            </a:solidFill>
            <a:tailEnd type="arrow" w="med" len="med"/>
          </a:ln>
        </p:spPr>
        <p:style>
          <a:lnRef idx="2">
            <a:schemeClr val="accent2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/>
          <p:nvPr/>
        </p:nvCxnSpPr>
        <p:spPr>
          <a:xfrm flipH="1">
            <a:off x="14693900" y="26423620"/>
            <a:ext cx="443865" cy="391795"/>
          </a:xfrm>
          <a:prstGeom prst="straightConnector1">
            <a:avLst/>
          </a:prstGeom>
          <a:ln w="0">
            <a:tailEnd type="arrow" w="med" len="med"/>
          </a:ln>
        </p:spPr>
        <p:style>
          <a:lnRef idx="2">
            <a:schemeClr val="accent2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/>
          <p:nvPr/>
        </p:nvCxnSpPr>
        <p:spPr>
          <a:xfrm flipV="1">
            <a:off x="16119475" y="24479885"/>
            <a:ext cx="533400" cy="431800"/>
          </a:xfrm>
          <a:prstGeom prst="straightConnector1">
            <a:avLst/>
          </a:prstGeom>
          <a:ln w="0">
            <a:tailEnd type="arrow" w="med" len="med"/>
          </a:ln>
        </p:spPr>
        <p:style>
          <a:lnRef idx="2">
            <a:schemeClr val="accent2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5" name="Rounded Rectangle 44"/>
          <p:cNvSpPr/>
          <p:nvPr/>
        </p:nvSpPr>
        <p:spPr>
          <a:xfrm>
            <a:off x="21203920" y="8111490"/>
            <a:ext cx="8253730" cy="687705"/>
          </a:xfrm>
          <a:prstGeom prst="roundRect">
            <a:avLst/>
          </a:prstGeom>
          <a:solidFill>
            <a:schemeClr val="tx2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279"/>
          <p:cNvSpPr txBox="1"/>
          <p:nvPr/>
        </p:nvSpPr>
        <p:spPr>
          <a:xfrm>
            <a:off x="21515705" y="8111490"/>
            <a:ext cx="7619365" cy="762000"/>
          </a:xfrm>
          <a:prstGeom prst="rect">
            <a:avLst/>
          </a:prstGeom>
          <a:noFill/>
        </p:spPr>
        <p:txBody>
          <a:bodyPr wrap="square" lIns="72000" tIns="72000" rIns="72000" bIns="72000" anchor="t">
            <a:noAutofit/>
          </a:bodyPr>
          <a:lstStyle/>
          <a:p>
            <a:pPr algn="ctr"/>
            <a:r>
              <a:rPr lang="en-US" sz="3600" b="1">
                <a:solidFill>
                  <a:srgbClr val="FFFFFF"/>
                </a:solidFill>
                <a:latin typeface="Aptos"/>
              </a:rPr>
              <a:t>6. </a:t>
            </a:r>
            <a:r>
              <a:rPr sz="3600" b="1">
                <a:solidFill>
                  <a:srgbClr val="FFFFFF"/>
                </a:solidFill>
                <a:latin typeface="Aptos"/>
              </a:rPr>
              <a:t>P</a:t>
            </a:r>
            <a:r>
              <a:rPr lang="en-US" sz="3600" b="1">
                <a:solidFill>
                  <a:srgbClr val="FFFFFF"/>
                </a:solidFill>
                <a:latin typeface="Aptos"/>
              </a:rPr>
              <a:t>UBLIC DATA ANALYSIS</a:t>
            </a:r>
            <a:endParaRPr lang="en-US" sz="36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53" name="Text Box 52"/>
          <p:cNvSpPr txBox="1"/>
          <p:nvPr/>
        </p:nvSpPr>
        <p:spPr>
          <a:xfrm>
            <a:off x="21319490" y="19424015"/>
            <a:ext cx="7833360" cy="64516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p>
            <a:r>
              <a:rPr lang="en-US" b="1">
                <a:latin typeface="Roboto" panose="02000000000000000000" charset="0"/>
                <a:cs typeface="Roboto" panose="02000000000000000000" charset="0"/>
              </a:rPr>
              <a:t>DIFFERENTIAL EXPRESSION BETWEEN MM1R &amp; MM1S CELLs</a:t>
            </a:r>
            <a:endParaRPr lang="en-US" b="1">
              <a:latin typeface="Roboto" panose="02000000000000000000" charset="0"/>
              <a:cs typeface="Roboto" panose="02000000000000000000" charset="0"/>
            </a:endParaRPr>
          </a:p>
          <a:p>
            <a:r>
              <a:rPr lang="en-US" sz="1400">
                <a:solidFill>
                  <a:schemeClr val="bg1">
                    <a:lumMod val="50000"/>
                  </a:schemeClr>
                </a:solidFill>
                <a:latin typeface="Roboto" panose="02000000000000000000" charset="0"/>
                <a:cs typeface="Roboto" panose="02000000000000000000" charset="0"/>
              </a:rPr>
              <a:t>DESeq2, n=3 vs n=3 (GSE182638)  || circled points: A priori ferroptosis gene panel</a:t>
            </a:r>
            <a:r>
              <a:rPr lang="en-US"/>
              <a:t> </a:t>
            </a:r>
            <a:endParaRPr lang="en-US"/>
          </a:p>
        </p:txBody>
      </p:sp>
      <p:pic>
        <p:nvPicPr>
          <p:cNvPr id="62" name="Picture 61" descr="Screenshot 2026-09-16 210224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55675" y="30473650"/>
            <a:ext cx="15516225" cy="4057650"/>
          </a:xfrm>
          <a:prstGeom prst="rect">
            <a:avLst/>
          </a:prstGeom>
        </p:spPr>
      </p:pic>
      <p:sp>
        <p:nvSpPr>
          <p:cNvPr id="63" name="Rounded Rectangle 62"/>
          <p:cNvSpPr/>
          <p:nvPr/>
        </p:nvSpPr>
        <p:spPr>
          <a:xfrm>
            <a:off x="784225" y="35538410"/>
            <a:ext cx="15767685" cy="930275"/>
          </a:xfrm>
          <a:prstGeom prst="roundRect">
            <a:avLst/>
          </a:prstGeom>
          <a:solidFill>
            <a:schemeClr val="tx2">
              <a:lumMod val="75000"/>
            </a:schemeClr>
          </a:solidFill>
          <a:ln>
            <a:solidFill>
              <a:schemeClr val="accent1">
                <a:lumMod val="75000"/>
                <a:alpha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279"/>
          <p:cNvSpPr txBox="1"/>
          <p:nvPr/>
        </p:nvSpPr>
        <p:spPr>
          <a:xfrm>
            <a:off x="1053465" y="35671125"/>
            <a:ext cx="15417800" cy="930275"/>
          </a:xfrm>
          <a:prstGeom prst="rect">
            <a:avLst/>
          </a:prstGeom>
          <a:noFill/>
        </p:spPr>
        <p:txBody>
          <a:bodyPr wrap="square" lIns="72000" tIns="72000" rIns="72000" bIns="72000" anchor="t">
            <a:noAutofit/>
          </a:bodyPr>
          <a:lstStyle/>
          <a:p>
            <a:pPr algn="ctr"/>
            <a:r>
              <a:rPr lang="en-US" sz="2800" b="1">
                <a:solidFill>
                  <a:srgbClr val="FFFFFF"/>
                </a:solidFill>
                <a:latin typeface="Aptos"/>
              </a:rPr>
              <a:t>          </a:t>
            </a:r>
            <a:r>
              <a:rPr lang="en-US" sz="3600" b="1">
                <a:solidFill>
                  <a:srgbClr val="FFFFFF"/>
                </a:solidFill>
                <a:latin typeface="Aptos"/>
              </a:rPr>
              <a:t>   9. CONCLUSION</a:t>
            </a:r>
            <a:endParaRPr lang="en-US" sz="3600" b="1">
              <a:solidFill>
                <a:srgbClr val="FFFFFF"/>
              </a:solidFill>
              <a:latin typeface="Aptos"/>
            </a:endParaRPr>
          </a:p>
        </p:txBody>
      </p:sp>
      <p:pic>
        <p:nvPicPr>
          <p:cNvPr id="36" name="Picture 35" descr="Figure4_TCGA_LUAD_ferroptosis_score_KM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9009360" y="30729555"/>
            <a:ext cx="8465185" cy="5596255"/>
          </a:xfrm>
          <a:prstGeom prst="rect">
            <a:avLst/>
          </a:prstGeom>
        </p:spPr>
      </p:pic>
      <p:sp>
        <p:nvSpPr>
          <p:cNvPr id="43" name="Text Box 42"/>
          <p:cNvSpPr txBox="1"/>
          <p:nvPr/>
        </p:nvSpPr>
        <p:spPr>
          <a:xfrm>
            <a:off x="18791556" y="30854650"/>
            <a:ext cx="478155" cy="3752850"/>
          </a:xfrm>
          <a:prstGeom prst="rect">
            <a:avLst/>
          </a:prstGeom>
          <a:solidFill>
            <a:schemeClr val="bg1"/>
          </a:solidFill>
        </p:spPr>
        <p:txBody>
          <a:bodyPr vert="vert270" wrap="square" rtlCol="0">
            <a:noAutofit/>
          </a:bodyPr>
          <a:p>
            <a:r>
              <a:rPr lang="en-US" sz="2000" b="1"/>
              <a:t>overall survival probability</a:t>
            </a:r>
            <a:endParaRPr lang="en-US" sz="2000" b="1"/>
          </a:p>
        </p:txBody>
      </p:sp>
      <p:sp>
        <p:nvSpPr>
          <p:cNvPr id="81" name="Text Box 80"/>
          <p:cNvSpPr txBox="1"/>
          <p:nvPr/>
        </p:nvSpPr>
        <p:spPr>
          <a:xfrm>
            <a:off x="21753830" y="35935920"/>
            <a:ext cx="4144645" cy="44196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noAutofit/>
          </a:bodyPr>
          <a:p>
            <a:r>
              <a:rPr lang="en-US" sz="2000" b="1">
                <a:sym typeface="+mn-ea"/>
              </a:rPr>
              <a:t>overall survival probability</a:t>
            </a:r>
            <a:endParaRPr lang="en-US" sz="2000" b="1"/>
          </a:p>
          <a:p>
            <a:endParaRPr lang="en-US" sz="2000" b="1"/>
          </a:p>
        </p:txBody>
      </p:sp>
      <p:sp>
        <p:nvSpPr>
          <p:cNvPr id="82" name="Text Box 81"/>
          <p:cNvSpPr txBox="1"/>
          <p:nvPr/>
        </p:nvSpPr>
        <p:spPr>
          <a:xfrm>
            <a:off x="18910300" y="29952315"/>
            <a:ext cx="863790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en-US" sz="2400" b="1"/>
              <a:t>Ferroptosis-associated molecular state and overall survival</a:t>
            </a:r>
            <a:endParaRPr lang="en-US" altLang="en-US" sz="2400" b="1"/>
          </a:p>
          <a:p>
            <a:pPr algn="ctr"/>
            <a:r>
              <a:rPr lang="en-US" altLang="en-US" sz="2400" b="1"/>
              <a:t> [ TCGA-LUAD ]</a:t>
            </a:r>
            <a:endParaRPr lang="en-US" altLang="en-US" sz="2400" b="1"/>
          </a:p>
        </p:txBody>
      </p:sp>
      <p:cxnSp>
        <p:nvCxnSpPr>
          <p:cNvPr id="87" name="Straight Connector 86"/>
          <p:cNvCxnSpPr/>
          <p:nvPr/>
        </p:nvCxnSpPr>
        <p:spPr>
          <a:xfrm flipH="1">
            <a:off x="10656570" y="37665025"/>
            <a:ext cx="23495" cy="1687830"/>
          </a:xfrm>
          <a:prstGeom prst="line">
            <a:avLst/>
          </a:prstGeom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/>
          <p:cNvCxnSpPr/>
          <p:nvPr/>
        </p:nvCxnSpPr>
        <p:spPr>
          <a:xfrm flipH="1">
            <a:off x="19702780" y="37715825"/>
            <a:ext cx="26035" cy="1630045"/>
          </a:xfrm>
          <a:prstGeom prst="line">
            <a:avLst/>
          </a:prstGeom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Text Box 89"/>
          <p:cNvSpPr txBox="1"/>
          <p:nvPr/>
        </p:nvSpPr>
        <p:spPr>
          <a:xfrm>
            <a:off x="1392555" y="36820475"/>
            <a:ext cx="692658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3200" b="1">
                <a:solidFill>
                  <a:srgbClr val="C00000"/>
                </a:solidFill>
                <a:latin typeface="Roboto" panose="02000000000000000000" charset="0"/>
                <a:cs typeface="Roboto" panose="02000000000000000000" charset="0"/>
              </a:rPr>
              <a:t>THREE TAKE-HOME MESSAGES</a:t>
            </a:r>
            <a:r>
              <a:rPr lang="en-US"/>
              <a:t> </a:t>
            </a:r>
            <a:endParaRPr lang="en-US"/>
          </a:p>
        </p:txBody>
      </p:sp>
      <p:sp>
        <p:nvSpPr>
          <p:cNvPr id="91" name="Flowchart: Sequential Access Storage 90"/>
          <p:cNvSpPr/>
          <p:nvPr/>
        </p:nvSpPr>
        <p:spPr>
          <a:xfrm>
            <a:off x="1110615" y="36975415"/>
            <a:ext cx="231775" cy="231140"/>
          </a:xfrm>
          <a:prstGeom prst="flowChartMagneticTap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en-US"/>
          </a:p>
        </p:txBody>
      </p:sp>
      <p:pic>
        <p:nvPicPr>
          <p:cNvPr id="94" name="Picture 93" descr="Screenshot 2026-09-17 221655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954530" y="37426900"/>
            <a:ext cx="1314450" cy="1390650"/>
          </a:xfrm>
          <a:prstGeom prst="rect">
            <a:avLst/>
          </a:prstGeom>
        </p:spPr>
      </p:pic>
      <p:pic>
        <p:nvPicPr>
          <p:cNvPr id="95" name="Picture 94" descr="Screenshot 2026-09-17 221711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1713845" y="37656135"/>
            <a:ext cx="1285875" cy="1238250"/>
          </a:xfrm>
          <a:prstGeom prst="rect">
            <a:avLst/>
          </a:prstGeom>
        </p:spPr>
      </p:pic>
      <p:pic>
        <p:nvPicPr>
          <p:cNvPr id="96" name="Picture 95" descr="Screenshot 2026-09-17 221655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0529550" y="37369750"/>
            <a:ext cx="1314450" cy="1390650"/>
          </a:xfrm>
          <a:prstGeom prst="rect">
            <a:avLst/>
          </a:prstGeom>
        </p:spPr>
      </p:pic>
      <p:sp>
        <p:nvSpPr>
          <p:cNvPr id="97" name="Text Box 96"/>
          <p:cNvSpPr txBox="1"/>
          <p:nvPr/>
        </p:nvSpPr>
        <p:spPr>
          <a:xfrm>
            <a:off x="3596640" y="37656135"/>
            <a:ext cx="4758055" cy="16967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sz="2800" b="1">
                <a:latin typeface="Roboto" panose="02000000000000000000" charset="0"/>
                <a:cs typeface="Roboto" panose="02000000000000000000" charset="0"/>
              </a:rPr>
              <a:t>RESISTANCE CAN CREATE DEPENDENCIES</a:t>
            </a:r>
            <a:endParaRPr lang="en-US" sz="2800" b="1">
              <a:latin typeface="Roboto" panose="02000000000000000000" charset="0"/>
              <a:cs typeface="Roboto" panose="02000000000000000000" charset="0"/>
            </a:endParaRPr>
          </a:p>
        </p:txBody>
      </p:sp>
      <p:sp>
        <p:nvSpPr>
          <p:cNvPr id="98" name="Text Box 97"/>
          <p:cNvSpPr txBox="1"/>
          <p:nvPr/>
        </p:nvSpPr>
        <p:spPr>
          <a:xfrm>
            <a:off x="13367385" y="37656135"/>
            <a:ext cx="4758055" cy="16967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 sz="2800" b="1">
                <a:latin typeface="Roboto" panose="02000000000000000000" charset="0"/>
                <a:cs typeface="Roboto" panose="02000000000000000000" charset="0"/>
              </a:rPr>
              <a:t>FERROPTOSIS EXPLOITS REDOX-LIPID VULNERABILITY</a:t>
            </a:r>
            <a:endParaRPr lang="en-US" altLang="en-US" sz="2800" b="1">
              <a:latin typeface="Roboto" panose="02000000000000000000" charset="0"/>
              <a:cs typeface="Roboto" panose="02000000000000000000" charset="0"/>
            </a:endParaRPr>
          </a:p>
        </p:txBody>
      </p:sp>
      <p:sp>
        <p:nvSpPr>
          <p:cNvPr id="99" name="Text Box 98"/>
          <p:cNvSpPr txBox="1"/>
          <p:nvPr/>
        </p:nvSpPr>
        <p:spPr>
          <a:xfrm>
            <a:off x="22066885" y="37656135"/>
            <a:ext cx="4758055" cy="16967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 sz="2800" b="1">
                <a:latin typeface="Roboto" panose="02000000000000000000" charset="0"/>
                <a:cs typeface="Roboto" panose="02000000000000000000" charset="0"/>
              </a:rPr>
              <a:t>BIOMARKERS MAY ENABLE PRECISION TARGETING</a:t>
            </a:r>
            <a:endParaRPr lang="en-US" altLang="en-US" sz="2800" b="1">
              <a:latin typeface="Roboto" panose="02000000000000000000" charset="0"/>
              <a:cs typeface="Roboto" panose="02000000000000000000" charset="0"/>
            </a:endParaRPr>
          </a:p>
        </p:txBody>
      </p:sp>
      <p:pic>
        <p:nvPicPr>
          <p:cNvPr id="68" name="Picture 67" descr="BioPC white logo png (1)-Picsart-AiImageEnhancer (1)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6958290" y="152400"/>
            <a:ext cx="3035300" cy="3035300"/>
          </a:xfrm>
          <a:prstGeom prst="rect">
            <a:avLst/>
          </a:prstGeom>
        </p:spPr>
      </p:pic>
      <p:pic>
        <p:nvPicPr>
          <p:cNvPr id="70" name="Picture 69" descr="CU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35635" y="361950"/>
            <a:ext cx="2117090" cy="2112645"/>
          </a:xfrm>
          <a:prstGeom prst="rect">
            <a:avLst/>
          </a:prstGeom>
        </p:spPr>
      </p:pic>
      <p:sp>
        <p:nvSpPr>
          <p:cNvPr id="73" name="Text Box 72"/>
          <p:cNvSpPr txBox="1"/>
          <p:nvPr/>
        </p:nvSpPr>
        <p:spPr>
          <a:xfrm>
            <a:off x="898525" y="39617650"/>
            <a:ext cx="28952825" cy="2584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3200" b="1">
                <a:solidFill>
                  <a:schemeClr val="accent1">
                    <a:lumMod val="75000"/>
                  </a:schemeClr>
                </a:solidFill>
                <a:latin typeface="Roboto" panose="02000000000000000000" charset="0"/>
                <a:cs typeface="Roboto" panose="02000000000000000000" charset="0"/>
              </a:rPr>
              <a:t>References :</a:t>
            </a:r>
            <a:endParaRPr lang="en-US" altLang="en-US" sz="3200" b="1">
              <a:solidFill>
                <a:schemeClr val="accent1">
                  <a:lumMod val="75000"/>
                </a:schemeClr>
              </a:solidFill>
              <a:latin typeface="Roboto" panose="02000000000000000000" charset="0"/>
              <a:cs typeface="Roboto" panose="02000000000000000000" charset="0"/>
            </a:endParaRPr>
          </a:p>
          <a:p>
            <a:endParaRPr lang="en-US" altLang="en-US"/>
          </a:p>
          <a:p>
            <a:r>
              <a:rPr lang="en-US" altLang="en-US" sz="2800">
                <a:solidFill>
                  <a:schemeClr val="accent1">
                    <a:lumMod val="75000"/>
                  </a:schemeClr>
                </a:solidFill>
                <a:latin typeface="Roboto" panose="02000000000000000000" charset="0"/>
                <a:cs typeface="Roboto" panose="02000000000000000000" charset="0"/>
              </a:rPr>
              <a:t>1. Cancer Genome Atlas Research Network. Nature. 2014;511:543–550. doi:10.1038/nature13385.</a:t>
            </a:r>
            <a:endParaRPr lang="en-US" altLang="en-US" sz="2800">
              <a:solidFill>
                <a:schemeClr val="accent1">
                  <a:lumMod val="75000"/>
                </a:schemeClr>
              </a:solidFill>
              <a:latin typeface="Roboto" panose="02000000000000000000" charset="0"/>
              <a:cs typeface="Roboto" panose="02000000000000000000" charset="0"/>
            </a:endParaRPr>
          </a:p>
          <a:p>
            <a:r>
              <a:rPr lang="en-US" altLang="en-US" sz="2800">
                <a:solidFill>
                  <a:schemeClr val="accent1">
                    <a:lumMod val="75000"/>
                  </a:schemeClr>
                </a:solidFill>
                <a:latin typeface="Roboto" panose="02000000000000000000" charset="0"/>
                <a:cs typeface="Roboto" panose="02000000000000000000" charset="0"/>
              </a:rPr>
              <a:t>2. Zhou N, Bao J. Database (Oxford). 2020;2020:baaa021. doi:10.1093/database/baaa021.</a:t>
            </a:r>
            <a:endParaRPr lang="en-US" altLang="en-US" sz="2800">
              <a:solidFill>
                <a:schemeClr val="accent1">
                  <a:lumMod val="75000"/>
                </a:schemeClr>
              </a:solidFill>
              <a:latin typeface="Roboto" panose="02000000000000000000" charset="0"/>
              <a:cs typeface="Roboto" panose="02000000000000000000" charset="0"/>
            </a:endParaRPr>
          </a:p>
          <a:p>
            <a:r>
              <a:rPr lang="en-US" altLang="en-US" sz="2800">
                <a:solidFill>
                  <a:schemeClr val="accent1">
                    <a:lumMod val="75000"/>
                  </a:schemeClr>
                </a:solidFill>
                <a:latin typeface="Roboto" panose="02000000000000000000" charset="0"/>
                <a:cs typeface="Roboto" panose="02000000000000000000" charset="0"/>
              </a:rPr>
              <a:t>3. Greenstein S, et al. Exp Hematol. 2003;31:271–282. doi:10.1016/S0301-472X(03)00023-7.</a:t>
            </a:r>
            <a:endParaRPr lang="en-US" altLang="en-US" sz="2800">
              <a:solidFill>
                <a:schemeClr val="accent1">
                  <a:lumMod val="75000"/>
                </a:schemeClr>
              </a:solidFill>
              <a:latin typeface="Roboto" panose="02000000000000000000" charset="0"/>
              <a:cs typeface="Roboto" panose="02000000000000000000" charset="0"/>
            </a:endParaRPr>
          </a:p>
          <a:p>
            <a:r>
              <a:rPr lang="en-US" altLang="en-US" sz="2800">
                <a:solidFill>
                  <a:schemeClr val="accent1">
                    <a:lumMod val="75000"/>
                  </a:schemeClr>
                </a:solidFill>
                <a:latin typeface="Roboto" panose="02000000000000000000" charset="0"/>
                <a:cs typeface="Roboto" panose="02000000000000000000" charset="0"/>
              </a:rPr>
              <a:t>4. Author-generated R analysis &amp; visualizations; reproducible code: GitHub — github.com/humayrakabir-ahona/poster-presentation-data</a:t>
            </a:r>
            <a:endParaRPr lang="en-US" altLang="en-US" sz="2800">
              <a:solidFill>
                <a:schemeClr val="accent1">
                  <a:lumMod val="75000"/>
                </a:schemeClr>
              </a:solidFill>
              <a:latin typeface="Roboto" panose="02000000000000000000" charset="0"/>
              <a:cs typeface="Roboto" panose="02000000000000000000" charset="0"/>
            </a:endParaRPr>
          </a:p>
        </p:txBody>
      </p:sp>
      <p:sp>
        <p:nvSpPr>
          <p:cNvPr id="74" name="Text Box 73"/>
          <p:cNvSpPr txBox="1"/>
          <p:nvPr/>
        </p:nvSpPr>
        <p:spPr>
          <a:xfrm>
            <a:off x="21665565" y="27089100"/>
            <a:ext cx="891603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altLang="en-US">
                <a:solidFill>
                  <a:schemeClr val="accent1">
                    <a:lumMod val="75000"/>
                  </a:schemeClr>
                </a:solidFill>
                <a:latin typeface="Roboto" panose="02000000000000000000" charset="0"/>
                <a:cs typeface="Roboto" panose="02000000000000000000" charset="0"/>
              </a:rPr>
              <a:t>[ Raw data were obtained from TCGA-LUAD (Cancer </a:t>
            </a:r>
            <a:endParaRPr lang="en-US" altLang="en-US">
              <a:solidFill>
                <a:schemeClr val="accent1">
                  <a:lumMod val="75000"/>
                </a:schemeClr>
              </a:solidFill>
              <a:latin typeface="Roboto" panose="02000000000000000000" charset="0"/>
              <a:cs typeface="Roboto" panose="02000000000000000000" charset="0"/>
            </a:endParaRPr>
          </a:p>
          <a:p>
            <a:pPr algn="l"/>
            <a:r>
              <a:rPr lang="en-US" altLang="en-US">
                <a:solidFill>
                  <a:schemeClr val="accent1">
                    <a:lumMod val="75000"/>
                  </a:schemeClr>
                </a:solidFill>
                <a:latin typeface="Roboto" panose="02000000000000000000" charset="0"/>
                <a:cs typeface="Roboto" panose="02000000000000000000" charset="0"/>
              </a:rPr>
              <a:t>Genome Atlas Research Network, 2014) and processed</a:t>
            </a:r>
            <a:endParaRPr lang="en-US" altLang="en-US">
              <a:solidFill>
                <a:schemeClr val="accent1">
                  <a:lumMod val="75000"/>
                </a:schemeClr>
              </a:solidFill>
              <a:latin typeface="Roboto" panose="02000000000000000000" charset="0"/>
              <a:cs typeface="Roboto" panose="02000000000000000000" charset="0"/>
            </a:endParaRPr>
          </a:p>
          <a:p>
            <a:pPr algn="l"/>
            <a:r>
              <a:rPr lang="en-US" altLang="en-US">
                <a:solidFill>
                  <a:schemeClr val="accent1">
                    <a:lumMod val="75000"/>
                  </a:schemeClr>
                </a:solidFill>
                <a:latin typeface="Roboto" panose="02000000000000000000" charset="0"/>
                <a:cs typeface="Roboto" panose="02000000000000000000" charset="0"/>
              </a:rPr>
              <a:t>using custom R scripts ]</a:t>
            </a:r>
            <a:endParaRPr lang="en-US" altLang="en-US">
              <a:solidFill>
                <a:schemeClr val="accent1">
                  <a:lumMod val="75000"/>
                </a:schemeClr>
              </a:solidFill>
              <a:latin typeface="Roboto" panose="02000000000000000000" charset="0"/>
              <a:cs typeface="Roboto" panose="02000000000000000000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>
        <a:defPPr>
          <a:defRPr lang="en-US"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3694</Words>
  <Application>WPS Presentation</Application>
  <PresentationFormat>On-screen Show (4:3)</PresentationFormat>
  <Paragraphs>149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2" baseType="lpstr">
      <vt:lpstr>Arial</vt:lpstr>
      <vt:lpstr>SimSun</vt:lpstr>
      <vt:lpstr>Wingdings</vt:lpstr>
      <vt:lpstr>Arial</vt:lpstr>
      <vt:lpstr>Aptos</vt:lpstr>
      <vt:lpstr>Segoe UI</vt:lpstr>
      <vt:lpstr>Roboto</vt:lpstr>
      <vt:lpstr>Calibri</vt:lpstr>
      <vt:lpstr>Microsoft YaHei</vt:lpstr>
      <vt:lpstr>Arial Unicode MS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WPS_1786885753</cp:lastModifiedBy>
  <cp:revision>16</cp:revision>
  <dcterms:created xsi:type="dcterms:W3CDTF">2013-01-27T09:14:00Z</dcterms:created>
  <dcterms:modified xsi:type="dcterms:W3CDTF">2026-09-21T14:58:01Z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1033-12.1.0.28485</vt:lpwstr>
  </property>
  <property fmtid="{D5CDD505-2E9C-101B-9397-08002B2CF9AE}" pid="3" name="ICV">
    <vt:lpwstr>87BDA2950E97412C9B66B8E1CDA24D80_12</vt:lpwstr>
  </property>
</Properties>
</file>